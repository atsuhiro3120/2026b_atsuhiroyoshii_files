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258" r:id="rId3"/>
    <p:sldId id="257" r:id="rId4"/>
    <p:sldId id="259" r:id="rId5"/>
    <p:sldId id="269" r:id="rId6"/>
    <p:sldId id="273" r:id="rId7"/>
    <p:sldId id="265" r:id="rId8"/>
    <p:sldId id="270" r:id="rId9"/>
    <p:sldId id="27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18F505ED-8007-4E28-8594-990CCA5D751D}">
          <p14:sldIdLst>
            <p14:sldId id="256"/>
            <p14:sldId id="258"/>
            <p14:sldId id="257"/>
            <p14:sldId id="259"/>
          </p14:sldIdLst>
        </p14:section>
        <p14:section name="修正後スライド置き場" id="{79D6EE53-F0F7-448B-BD44-A763999192B1}">
          <p14:sldIdLst>
            <p14:sldId id="269"/>
            <p14:sldId id="273"/>
            <p14:sldId id="265"/>
            <p14:sldId id="270"/>
            <p14:sldId id="272"/>
          </p14:sldIdLst>
        </p14:section>
        <p14:section name="非表示一覧" id="{8EA2BB7B-3ABC-40A1-82E2-C01D24C89B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37EEC5-9CBC-43BD-1799-F6F0D64000D4}" v="10" dt="2026-10-01T06:56:54.72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0667" autoAdjust="0"/>
  </p:normalViewPr>
  <p:slideViewPr>
    <p:cSldViewPr snapToGrid="0">
      <p:cViewPr varScale="1">
        <p:scale>
          <a:sx n="33" d="100"/>
          <a:sy n="33" d="100"/>
        </p:scale>
        <p:origin x="980" y="1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ゲスト ユーザー" providerId="Windows Live" clId="Web-{C037EEC5-9CBC-43BD-1799-F6F0D64000D4}"/>
    <pc:docChg chg="modSld">
      <pc:chgData name="ゲスト ユーザー" userId="" providerId="Windows Live" clId="Web-{C037EEC5-9CBC-43BD-1799-F6F0D64000D4}" dt="2026-10-01T06:56:54.729" v="9" actId="1076"/>
      <pc:docMkLst>
        <pc:docMk/>
      </pc:docMkLst>
      <pc:sldChg chg="modSp">
        <pc:chgData name="ゲスト ユーザー" userId="" providerId="Windows Live" clId="Web-{C037EEC5-9CBC-43BD-1799-F6F0D64000D4}" dt="2026-10-01T06:56:54.729" v="9" actId="1076"/>
        <pc:sldMkLst>
          <pc:docMk/>
          <pc:sldMk cId="2770117263" sldId="272"/>
        </pc:sldMkLst>
        <pc:spChg chg="mod">
          <ac:chgData name="ゲスト ユーザー" userId="" providerId="Windows Live" clId="Web-{C037EEC5-9CBC-43BD-1799-F6F0D64000D4}" dt="2026-10-01T06:56:52.667" v="6" actId="1076"/>
          <ac:spMkLst>
            <pc:docMk/>
            <pc:sldMk cId="2770117263" sldId="272"/>
            <ac:spMk id="17" creationId="{E6B08108-7554-FB89-6703-61AC94AB95D2}"/>
          </ac:spMkLst>
        </pc:spChg>
        <pc:spChg chg="mod">
          <ac:chgData name="ゲスト ユーザー" userId="" providerId="Windows Live" clId="Web-{C037EEC5-9CBC-43BD-1799-F6F0D64000D4}" dt="2026-10-01T06:56:54.057" v="8" actId="1076"/>
          <ac:spMkLst>
            <pc:docMk/>
            <pc:sldMk cId="2770117263" sldId="272"/>
            <ac:spMk id="22" creationId="{8BE4FF3D-699B-0009-FB0A-64FF5D7D8FAD}"/>
          </ac:spMkLst>
        </pc:spChg>
        <pc:spChg chg="mod">
          <ac:chgData name="ゲスト ユーザー" userId="" providerId="Windows Live" clId="Web-{C037EEC5-9CBC-43BD-1799-F6F0D64000D4}" dt="2026-10-01T06:56:53.401" v="7" actId="1076"/>
          <ac:spMkLst>
            <pc:docMk/>
            <pc:sldMk cId="2770117263" sldId="272"/>
            <ac:spMk id="24" creationId="{4B8C42A6-52E5-3D3F-AA05-5674633EA04C}"/>
          </ac:spMkLst>
        </pc:spChg>
        <pc:picChg chg="mod">
          <ac:chgData name="ゲスト ユーザー" userId="" providerId="Windows Live" clId="Web-{C037EEC5-9CBC-43BD-1799-F6F0D64000D4}" dt="2026-10-01T06:56:54.729" v="9" actId="1076"/>
          <ac:picMkLst>
            <pc:docMk/>
            <pc:sldMk cId="2770117263" sldId="272"/>
            <ac:picMk id="15" creationId="{6C3B73D3-3481-77CB-D04A-9315484F5B1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26EF7-FA71-47B6-ABF5-90BAFB0B85BB}" type="datetimeFigureOut">
              <a:rPr kumimoji="1" lang="ja-JP" altLang="en-US" smtClean="0"/>
              <a:t>2026/9/30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C8EA01-3B36-4A93-B7E3-FC102F3F4A24}" type="slidenum">
              <a:rPr kumimoji="1" lang="ja-JP" altLang="en-US" smtClean="0"/>
              <a:t>‹#›</a:t>
            </a:fld>
            <a:endParaRPr kumimoji="1" lang="ja-JP" altLang="en-US"/>
          </a:p>
        </p:txBody>
      </p:sp>
    </p:spTree>
    <p:extLst>
      <p:ext uri="{BB962C8B-B14F-4D97-AF65-F5344CB8AC3E}">
        <p14:creationId xmlns:p14="http://schemas.microsoft.com/office/powerpoint/2010/main" val="293842823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ほんばんチャイムあり</a:t>
            </a:r>
            <a:endPar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5</a:t>
            </a:r>
            <a:r>
              <a:rPr kumimoji="1" lang="ja-JP" altLang="en-US"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a:t>
            </a:r>
            <a:r>
              <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7</a:t>
            </a:r>
            <a:r>
              <a:rPr kumimoji="1" lang="ja-JP" altLang="en-US"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a:t>
            </a:r>
            <a:r>
              <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10</a:t>
            </a:r>
            <a:r>
              <a:rPr kumimoji="1" lang="ja-JP" altLang="en-US"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でなる</a:t>
            </a:r>
            <a:endPar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20260727</a:t>
            </a:r>
            <a:r>
              <a:rPr kumimoji="1" lang="ja-JP" altLang="en-US"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追記</a:t>
            </a:r>
            <a:endPar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発表のメイン部分</a:t>
            </a:r>
            <a:endPar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セル画は「塗る場所が</a:t>
            </a:r>
            <a:r>
              <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1</a:t>
            </a:r>
            <a:r>
              <a:rPr kumimoji="1" lang="ja-JP" altLang="en-US"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つの領域になっている」ととらえることができる</a:t>
            </a:r>
            <a:endPar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画風変換ではなくて</a:t>
            </a:r>
            <a:endPar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領域抽出→色決め</a:t>
            </a:r>
            <a:endPar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でセル画風変換が可能ではないか。</a:t>
            </a:r>
            <a:endParaRPr kumimoji="1" lang="en-US" altLang="ja-JP" sz="12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endParaRPr>
          </a:p>
        </p:txBody>
      </p:sp>
      <p:sp>
        <p:nvSpPr>
          <p:cNvPr id="4" name="スライド番号プレースホルダー 3"/>
          <p:cNvSpPr>
            <a:spLocks noGrp="1"/>
          </p:cNvSpPr>
          <p:nvPr>
            <p:ph type="sldNum" sz="quarter" idx="5"/>
          </p:nvPr>
        </p:nvSpPr>
        <p:spPr/>
        <p:txBody>
          <a:bodyPr/>
          <a:lstStyle/>
          <a:p>
            <a:fld id="{3AC8EA01-3B36-4A93-B7E3-FC102F3F4A24}" type="slidenum">
              <a:rPr kumimoji="1" lang="ja-JP" altLang="en-US" smtClean="0"/>
              <a:t>1</a:t>
            </a:fld>
            <a:endParaRPr kumimoji="1" lang="ja-JP" altLang="en-US"/>
          </a:p>
        </p:txBody>
      </p:sp>
    </p:spTree>
    <p:extLst>
      <p:ext uri="{BB962C8B-B14F-4D97-AF65-F5344CB8AC3E}">
        <p14:creationId xmlns:p14="http://schemas.microsoft.com/office/powerpoint/2010/main" val="2210579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1</a:t>
            </a:r>
            <a:r>
              <a:rPr lang="ja-JP" altLang="en-US" dirty="0"/>
              <a:t>：</a:t>
            </a:r>
            <a:r>
              <a:rPr lang="en-US" altLang="ja-JP" dirty="0"/>
              <a:t>30</a:t>
            </a:r>
          </a:p>
          <a:p>
            <a:pPr marL="0" marR="0" lvl="0" indent="0" algn="l" defTabSz="914400" rtl="0" eaLnBrk="1" fontAlgn="auto" latinLnBrk="0" hangingPunct="1">
              <a:lnSpc>
                <a:spcPct val="100000"/>
              </a:lnSpc>
              <a:spcBef>
                <a:spcPts val="0"/>
              </a:spcBef>
              <a:spcAft>
                <a:spcPts val="0"/>
              </a:spcAft>
              <a:buClrTx/>
              <a:buSzTx/>
              <a:buFontTx/>
              <a:buNone/>
              <a:tabLst/>
              <a:defRPr/>
            </a:pPr>
            <a:br>
              <a:rPr lang="ja-JP" altLang="ja-JP" dirty="0"/>
            </a:br>
            <a:r>
              <a:rPr lang="en-US" altLang="ja-JP" dirty="0"/>
              <a:t>20260727</a:t>
            </a:r>
            <a:r>
              <a:rPr lang="ja-JP" altLang="en-US" dirty="0"/>
              <a:t>追記</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版権を書く</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2D+3DCG</a:t>
            </a:r>
            <a:r>
              <a:rPr kumimoji="1" lang="ja-JP" altLang="en-US" sz="1200" dirty="0"/>
              <a:t>背景→手描き人物＋</a:t>
            </a:r>
            <a:r>
              <a:rPr kumimoji="1" lang="en-US" altLang="ja-JP" sz="1200" dirty="0"/>
              <a:t>CG</a:t>
            </a:r>
            <a:r>
              <a:rPr kumimoji="1" lang="ja-JP" altLang="en-US" sz="1200" dirty="0"/>
              <a:t>背景</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2D+2D</a:t>
            </a:r>
            <a:r>
              <a:rPr kumimoji="1" lang="ja-JP" altLang="en-US" sz="1200" dirty="0"/>
              <a:t>背景→手描き人物＋手描き背景</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事実としてそういう映像がある</a:t>
            </a:r>
            <a:endParaRPr lang="ja-JP"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印象としてどう違う？</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左は人物と背景が明らかに違う質感である</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右は統一感があり没入感がある</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なんかわからない</a:t>
            </a:r>
            <a:r>
              <a:rPr kumimoji="1" lang="en-US" altLang="ja-JP" sz="1200" dirty="0"/>
              <a:t>(</a:t>
            </a:r>
            <a:r>
              <a:rPr kumimoji="1" lang="ja-JP" altLang="en-US" sz="1200" dirty="0"/>
              <a:t>なぜその手法を使うのか</a:t>
            </a:r>
            <a:r>
              <a:rPr kumimoji="1" lang="en-US" altLang="ja-JP" sz="1200" dirty="0"/>
              <a:t>)</a:t>
            </a:r>
            <a:r>
              <a:rPr kumimoji="1" lang="ja-JP" altLang="en-US" sz="1200" dirty="0"/>
              <a:t>けど今でも背景動画を利用する監督はいる</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１枚１枚背景を手描きするので大変である</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p:txBody>
      </p:sp>
      <p:sp>
        <p:nvSpPr>
          <p:cNvPr id="4" name="スライド番号プレースホルダー 3"/>
          <p:cNvSpPr>
            <a:spLocks noGrp="1"/>
          </p:cNvSpPr>
          <p:nvPr>
            <p:ph type="sldNum" sz="quarter" idx="5"/>
          </p:nvPr>
        </p:nvSpPr>
        <p:spPr/>
        <p:txBody>
          <a:bodyPr/>
          <a:lstStyle/>
          <a:p>
            <a:fld id="{3AC8EA01-3B36-4A93-B7E3-FC102F3F4A24}" type="slidenum">
              <a:rPr kumimoji="1" lang="ja-JP" altLang="en-US" smtClean="0"/>
              <a:t>2</a:t>
            </a:fld>
            <a:endParaRPr kumimoji="1" lang="ja-JP" altLang="en-US"/>
          </a:p>
        </p:txBody>
      </p:sp>
    </p:spTree>
    <p:extLst>
      <p:ext uri="{BB962C8B-B14F-4D97-AF65-F5344CB8AC3E}">
        <p14:creationId xmlns:p14="http://schemas.microsoft.com/office/powerpoint/2010/main" val="4251481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2</a:t>
            </a:r>
            <a:r>
              <a:rPr kumimoji="1" lang="ja-JP" altLang="en-US" dirty="0"/>
              <a:t>：</a:t>
            </a:r>
            <a:r>
              <a:rPr kumimoji="1" lang="en-US" altLang="ja-JP" dirty="0"/>
              <a:t>30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そこで今回の研究の目的を，</a:t>
            </a:r>
            <a:r>
              <a:rPr kumimoji="1" lang="ja-JP" altLang="en-US" sz="1200" dirty="0"/>
              <a:t>実写画像から直接セル画調の背景画像を作るというものに設定した．</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具体的にはセル画のような抽象的な表現や色使いを機械的に表現し，入力画像から直接的にセル画風の画像に変換することを試みる．</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20260727</a:t>
            </a:r>
            <a:r>
              <a:rPr kumimoji="1" lang="ja-JP" altLang="en-US" sz="1200" dirty="0"/>
              <a:t>追記</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入力→実写の自然画像</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出力→セル画調画像</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出力画像の絵の前景部分はもう少し細かく</a:t>
            </a:r>
            <a:r>
              <a:rPr kumimoji="1" lang="en-US" altLang="ja-JP" sz="1200" dirty="0"/>
              <a:t>(</a:t>
            </a:r>
            <a:r>
              <a:rPr kumimoji="1" lang="ja-JP" altLang="en-US" sz="1200" dirty="0"/>
              <a:t>紅の豚参考に</a:t>
            </a:r>
            <a:r>
              <a:rPr kumimoji="1" lang="en-US" altLang="ja-JP"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p:txBody>
      </p:sp>
      <p:sp>
        <p:nvSpPr>
          <p:cNvPr id="4" name="スライド番号プレースホルダー 3"/>
          <p:cNvSpPr>
            <a:spLocks noGrp="1"/>
          </p:cNvSpPr>
          <p:nvPr>
            <p:ph type="sldNum" sz="quarter" idx="5"/>
          </p:nvPr>
        </p:nvSpPr>
        <p:spPr/>
        <p:txBody>
          <a:bodyPr/>
          <a:lstStyle/>
          <a:p>
            <a:fld id="{3AC8EA01-3B36-4A93-B7E3-FC102F3F4A24}" type="slidenum">
              <a:rPr kumimoji="1" lang="ja-JP" altLang="en-US" smtClean="0"/>
              <a:t>3</a:t>
            </a:fld>
            <a:endParaRPr kumimoji="1" lang="ja-JP" altLang="en-US"/>
          </a:p>
        </p:txBody>
      </p:sp>
    </p:spTree>
    <p:extLst>
      <p:ext uri="{BB962C8B-B14F-4D97-AF65-F5344CB8AC3E}">
        <p14:creationId xmlns:p14="http://schemas.microsoft.com/office/powerpoint/2010/main" val="8817967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3</a:t>
            </a:r>
            <a:r>
              <a:rPr kumimoji="1" lang="ja-JP" altLang="en-US" dirty="0"/>
              <a:t>：</a:t>
            </a:r>
            <a:r>
              <a:rPr kumimoji="1" lang="en-US" altLang="ja-JP" dirty="0"/>
              <a:t>00</a:t>
            </a:r>
          </a:p>
          <a:p>
            <a:endParaRPr kumimoji="1" lang="en-US" altLang="ja-JP" dirty="0"/>
          </a:p>
          <a:p>
            <a:r>
              <a:rPr kumimoji="1" lang="en-US" altLang="ja-JP" dirty="0"/>
              <a:t>20260727</a:t>
            </a:r>
            <a:r>
              <a:rPr kumimoji="1" lang="ja-JP" altLang="en-US" dirty="0"/>
              <a:t>追記</a:t>
            </a:r>
            <a:endParaRPr kumimoji="1" lang="en-US" altLang="ja-JP" dirty="0"/>
          </a:p>
          <a:p>
            <a:r>
              <a:rPr kumimoji="1" lang="ja-JP" altLang="en-US" dirty="0"/>
              <a:t>左</a:t>
            </a:r>
            <a:endParaRPr kumimoji="1" lang="en-US" altLang="ja-JP" dirty="0"/>
          </a:p>
          <a:p>
            <a:r>
              <a:rPr kumimoji="1" lang="ja-JP" altLang="en-US" dirty="0"/>
              <a:t>抽象化（領域分割）の方法</a:t>
            </a:r>
            <a:endParaRPr kumimoji="1" lang="en-US" altLang="ja-JP" dirty="0"/>
          </a:p>
          <a:p>
            <a:r>
              <a:rPr kumimoji="1" lang="ja-JP" altLang="en-US" dirty="0"/>
              <a:t>画像を被写体で領域分割したい</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3AC8EA01-3B36-4A93-B7E3-FC102F3F4A24}" type="slidenum">
              <a:rPr kumimoji="1" lang="ja-JP" altLang="en-US" smtClean="0"/>
              <a:t>4</a:t>
            </a:fld>
            <a:endParaRPr kumimoji="1" lang="ja-JP" altLang="en-US"/>
          </a:p>
        </p:txBody>
      </p:sp>
    </p:spTree>
    <p:extLst>
      <p:ext uri="{BB962C8B-B14F-4D97-AF65-F5344CB8AC3E}">
        <p14:creationId xmlns:p14="http://schemas.microsoft.com/office/powerpoint/2010/main" val="2686170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D00E1-DE2B-0978-E3EE-70D00F457A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5FCBF1F-B147-C0CC-92BF-6F576F050BD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5DA6A0-B2B9-B530-AF69-515FEA791CF6}"/>
              </a:ext>
            </a:extLst>
          </p:cNvPr>
          <p:cNvSpPr>
            <a:spLocks noGrp="1"/>
          </p:cNvSpPr>
          <p:nvPr>
            <p:ph type="body" idx="1"/>
          </p:nvPr>
        </p:nvSpPr>
        <p:spPr/>
        <p:txBody>
          <a:bodyPr/>
          <a:lstStyle/>
          <a:p>
            <a:r>
              <a:rPr lang="en-US" altLang="ja-JP" dirty="0"/>
              <a:t>4</a:t>
            </a:r>
            <a:r>
              <a:rPr lang="ja-JP" altLang="en-US" dirty="0"/>
              <a:t>：</a:t>
            </a:r>
            <a:r>
              <a:rPr lang="en-US" altLang="ja-JP" dirty="0"/>
              <a:t>00</a:t>
            </a:r>
          </a:p>
          <a:p>
            <a:endParaRPr lang="en-US" altLang="ja-JP" dirty="0"/>
          </a:p>
          <a:p>
            <a:r>
              <a:rPr lang="en-US" altLang="ja-JP" dirty="0"/>
              <a:t>20260727</a:t>
            </a:r>
            <a:r>
              <a:rPr lang="ja-JP" altLang="en-US" dirty="0"/>
              <a:t>追記</a:t>
            </a:r>
            <a:endParaRPr lang="en-US" altLang="ja-JP" dirty="0"/>
          </a:p>
          <a:p>
            <a:r>
              <a:rPr lang="en-US" altLang="ja-JP" dirty="0"/>
              <a:t>SAM2</a:t>
            </a:r>
            <a:r>
              <a:rPr lang="ja-JP" altLang="en-US" dirty="0"/>
              <a:t>の文献を提示</a:t>
            </a:r>
            <a:endParaRPr lang="en-US" altLang="ja-JP" dirty="0"/>
          </a:p>
          <a:p>
            <a:r>
              <a:rPr lang="en-US" altLang="ja-JP" dirty="0"/>
              <a:t>SAM2</a:t>
            </a:r>
            <a:r>
              <a:rPr lang="ja-JP" altLang="en-US" dirty="0"/>
              <a:t>である理由はない</a:t>
            </a:r>
            <a:r>
              <a:rPr lang="en-US" altLang="ja-JP" dirty="0"/>
              <a:t>(</a:t>
            </a:r>
            <a:r>
              <a:rPr lang="ja-JP" altLang="en-US" dirty="0"/>
              <a:t>数ある手法のうちの一つである</a:t>
            </a:r>
            <a:r>
              <a:rPr lang="en-US" altLang="ja-JP" dirty="0"/>
              <a:t>)</a:t>
            </a:r>
          </a:p>
          <a:p>
            <a:r>
              <a:rPr lang="ja-JP" altLang="en-US" dirty="0"/>
              <a:t>画像セグメンテーションを利用する</a:t>
            </a:r>
            <a:endParaRPr lang="en-US" altLang="ja-JP" dirty="0"/>
          </a:p>
          <a:p>
            <a:r>
              <a:rPr lang="ja-JP" altLang="en-US" dirty="0"/>
              <a:t>・見栄えどうにかしたい</a:t>
            </a:r>
            <a:endParaRPr lang="en-US" altLang="ja-JP" dirty="0"/>
          </a:p>
          <a:p>
            <a:r>
              <a:rPr lang="ja-JP" altLang="en-US" dirty="0"/>
              <a:t>真ん中</a:t>
            </a:r>
            <a:endParaRPr lang="en-US" altLang="ja-JP" dirty="0"/>
          </a:p>
          <a:p>
            <a:r>
              <a:rPr lang="ja-JP" altLang="en-US" dirty="0"/>
              <a:t>画像セグメンテーション</a:t>
            </a:r>
            <a:endParaRPr lang="en-US" altLang="ja-JP" dirty="0"/>
          </a:p>
          <a:p>
            <a:r>
              <a:rPr lang="en-US" altLang="ja-JP" dirty="0"/>
              <a:t>SAM2</a:t>
            </a:r>
            <a:r>
              <a:rPr lang="ja-JP" altLang="en-US" dirty="0"/>
              <a:t>ってどんなもの？</a:t>
            </a:r>
            <a:endParaRPr lang="en-US" altLang="ja-JP" dirty="0"/>
          </a:p>
          <a:p>
            <a:r>
              <a:rPr lang="ja-JP" altLang="en-US" dirty="0"/>
              <a:t>・意味ある画像として画像の中の領域を切り取る</a:t>
            </a:r>
            <a:endParaRPr lang="en-US" altLang="ja-JP" dirty="0"/>
          </a:p>
          <a:p>
            <a:r>
              <a:rPr lang="ja-JP" altLang="en-US" dirty="0"/>
              <a:t>その領域の組み合わせで領域分割が完成する</a:t>
            </a:r>
            <a:endParaRPr lang="en-US" altLang="ja-JP" dirty="0"/>
          </a:p>
          <a:p>
            <a:r>
              <a:rPr lang="ja-JP" altLang="en-US" dirty="0"/>
              <a:t>意味ある領域で分ける都合上、少しの隙間ができる→未定義領域としている</a:t>
            </a:r>
            <a:endParaRPr lang="en-US" altLang="ja-JP" dirty="0"/>
          </a:p>
        </p:txBody>
      </p:sp>
      <p:sp>
        <p:nvSpPr>
          <p:cNvPr id="4" name="スライド番号プレースホルダー 3">
            <a:extLst>
              <a:ext uri="{FF2B5EF4-FFF2-40B4-BE49-F238E27FC236}">
                <a16:creationId xmlns:a16="http://schemas.microsoft.com/office/drawing/2014/main" id="{7F01A4EA-A955-4265-9742-3D9211FA21A0}"/>
              </a:ext>
            </a:extLst>
          </p:cNvPr>
          <p:cNvSpPr>
            <a:spLocks noGrp="1"/>
          </p:cNvSpPr>
          <p:nvPr>
            <p:ph type="sldNum" sz="quarter" idx="5"/>
          </p:nvPr>
        </p:nvSpPr>
        <p:spPr/>
        <p:txBody>
          <a:bodyPr/>
          <a:lstStyle/>
          <a:p>
            <a:fld id="{3AC8EA01-3B36-4A93-B7E3-FC102F3F4A24}" type="slidenum">
              <a:rPr kumimoji="1" lang="ja-JP" altLang="en-US" smtClean="0"/>
              <a:t>5</a:t>
            </a:fld>
            <a:endParaRPr kumimoji="1" lang="ja-JP" altLang="en-US"/>
          </a:p>
        </p:txBody>
      </p:sp>
    </p:spTree>
    <p:extLst>
      <p:ext uri="{BB962C8B-B14F-4D97-AF65-F5344CB8AC3E}">
        <p14:creationId xmlns:p14="http://schemas.microsoft.com/office/powerpoint/2010/main" val="3158238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b="1" dirty="0"/>
              <a:t>まず、本手法では『画像セグメンテーション』を利用します。</a:t>
            </a:r>
            <a:r>
              <a:rPr lang="ja-JP" altLang="ja-JP" dirty="0"/>
              <a:t> </a:t>
            </a:r>
            <a:r>
              <a:rPr lang="ja-JP" altLang="ja-JP" b="1" dirty="0"/>
              <a:t>私たちが普段目にするアニメの背景やセル画は、ベタ塗りと輪郭線によって構成されています。この表現を実写画像から再現するにあたり、私は『アニメのベタ塗りやパーツ単位の表現とは、まさに画像中の意味のある領域の集まりとして分割されている状態そのものなのだ』と解釈しました。</a:t>
            </a:r>
            <a:endParaRPr lang="ja-JP" altLang="ja-JP" dirty="0"/>
          </a:p>
          <a:p>
            <a:r>
              <a:rPr lang="ja-JP" altLang="ja-JP" b="1" dirty="0"/>
              <a:t>そのため、単なるピクセル単位の機械的な分割ではなく、対象を『意味のある領域』として抽出できる画像セグメンテーションが適していると考え、これを採用しています。</a:t>
            </a:r>
            <a:endParaRPr lang="ja-JP"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3AC8EA01-3B36-4A93-B7E3-FC102F3F4A24}" type="slidenum">
              <a:rPr kumimoji="1" lang="ja-JP" altLang="en-US" smtClean="0"/>
              <a:t>6</a:t>
            </a:fld>
            <a:endParaRPr kumimoji="1" lang="ja-JP" altLang="en-US"/>
          </a:p>
        </p:txBody>
      </p:sp>
    </p:spTree>
    <p:extLst>
      <p:ext uri="{BB962C8B-B14F-4D97-AF65-F5344CB8AC3E}">
        <p14:creationId xmlns:p14="http://schemas.microsoft.com/office/powerpoint/2010/main" val="984680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決定方法は？</a:t>
            </a:r>
            <a:endParaRPr kumimoji="1" lang="en-US" altLang="ja-JP" dirty="0"/>
          </a:p>
          <a:p>
            <a:r>
              <a:rPr kumimoji="1" lang="ja-JP" altLang="en-US" dirty="0"/>
              <a:t>指定した領域内の画素を調べてその平均で領域内を彩色する。</a:t>
            </a:r>
            <a:endParaRPr kumimoji="1" lang="en-US" altLang="ja-JP" dirty="0"/>
          </a:p>
          <a:p>
            <a:r>
              <a:rPr kumimoji="1" lang="ja-JP" altLang="en-US" dirty="0"/>
              <a:t>本来ほしい色よりも若干くすんだ色にはなってしまうが、機械的な決定が可能である。</a:t>
            </a:r>
          </a:p>
        </p:txBody>
      </p:sp>
      <p:sp>
        <p:nvSpPr>
          <p:cNvPr id="4" name="スライド番号プレースホルダー 3"/>
          <p:cNvSpPr>
            <a:spLocks noGrp="1"/>
          </p:cNvSpPr>
          <p:nvPr>
            <p:ph type="sldNum" sz="quarter" idx="5"/>
          </p:nvPr>
        </p:nvSpPr>
        <p:spPr/>
        <p:txBody>
          <a:bodyPr/>
          <a:lstStyle/>
          <a:p>
            <a:fld id="{3AC8EA01-3B36-4A93-B7E3-FC102F3F4A24}" type="slidenum">
              <a:rPr kumimoji="1" lang="ja-JP" altLang="en-US" smtClean="0"/>
              <a:t>7</a:t>
            </a:fld>
            <a:endParaRPr kumimoji="1" lang="ja-JP" altLang="en-US"/>
          </a:p>
        </p:txBody>
      </p:sp>
    </p:spTree>
    <p:extLst>
      <p:ext uri="{BB962C8B-B14F-4D97-AF65-F5344CB8AC3E}">
        <p14:creationId xmlns:p14="http://schemas.microsoft.com/office/powerpoint/2010/main" val="3005133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4E9BF-D956-720E-E547-C6B2B66A653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B0FEA3-D1D7-7119-960F-F7E9E63669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91EDB3-CA46-8763-DEDA-58024A030370}"/>
              </a:ext>
            </a:extLst>
          </p:cNvPr>
          <p:cNvSpPr>
            <a:spLocks noGrp="1"/>
          </p:cNvSpPr>
          <p:nvPr>
            <p:ph type="body" idx="1"/>
          </p:nvPr>
        </p:nvSpPr>
        <p:spPr/>
        <p:txBody>
          <a:bodyPr/>
          <a:lstStyle/>
          <a:p>
            <a:r>
              <a:rPr kumimoji="1" lang="en-US" altLang="ja-JP" dirty="0"/>
              <a:t>6</a:t>
            </a:r>
            <a:r>
              <a:rPr kumimoji="1" lang="ja-JP" altLang="en-US" dirty="0"/>
              <a:t>：</a:t>
            </a:r>
            <a:r>
              <a:rPr kumimoji="1" lang="en-US" altLang="ja-JP" dirty="0"/>
              <a:t>00</a:t>
            </a:r>
          </a:p>
          <a:p>
            <a:endParaRPr kumimoji="1" lang="en-US" altLang="ja-JP" dirty="0"/>
          </a:p>
          <a:p>
            <a:r>
              <a:rPr kumimoji="1" lang="en-US" altLang="ja-JP" dirty="0"/>
              <a:t>20260727</a:t>
            </a:r>
            <a:r>
              <a:rPr kumimoji="1" lang="ja-JP" altLang="en-US" dirty="0"/>
              <a:t>追記</a:t>
            </a:r>
            <a:endParaRPr kumimoji="1" lang="en-US" altLang="ja-JP" dirty="0"/>
          </a:p>
          <a:p>
            <a:r>
              <a:rPr kumimoji="1" lang="ja-JP" altLang="en-US" dirty="0"/>
              <a:t>〇△</a:t>
            </a:r>
            <a:r>
              <a:rPr kumimoji="1" lang="en-US" altLang="ja-JP" dirty="0"/>
              <a:t>×</a:t>
            </a:r>
            <a:r>
              <a:rPr kumimoji="1" lang="ja-JP" altLang="en-US" dirty="0"/>
              <a:t>の意味</a:t>
            </a:r>
            <a:endParaRPr kumimoji="1" lang="en-US" altLang="ja-JP" dirty="0"/>
          </a:p>
          <a:p>
            <a:r>
              <a:rPr kumimoji="1" lang="ja-JP" altLang="en-US" dirty="0"/>
              <a:t>〇：うまくいっている</a:t>
            </a:r>
            <a:endParaRPr kumimoji="1" lang="en-US" altLang="ja-JP" dirty="0"/>
          </a:p>
          <a:p>
            <a:r>
              <a:rPr kumimoji="1" lang="ja-JP" altLang="en-US" dirty="0"/>
              <a:t>△：そのままアニメの背景で使うには微妙な結果</a:t>
            </a:r>
            <a:r>
              <a:rPr kumimoji="1" lang="en-US" altLang="ja-JP" dirty="0"/>
              <a:t>(</a:t>
            </a:r>
            <a:r>
              <a:rPr kumimoji="1" lang="ja-JP" altLang="en-US" dirty="0"/>
              <a:t>領域化：細かく分割しすぎている、輪郭線：二重になっている</a:t>
            </a:r>
            <a:r>
              <a:rPr kumimoji="1" lang="en-US" altLang="ja-JP" dirty="0"/>
              <a:t>)</a:t>
            </a:r>
          </a:p>
          <a:p>
            <a:r>
              <a:rPr kumimoji="1" lang="en-US" altLang="ja-JP" dirty="0"/>
              <a:t>×</a:t>
            </a:r>
            <a:r>
              <a:rPr kumimoji="1" lang="ja-JP" altLang="en-US" dirty="0"/>
              <a:t>：考えていた出力とは離れてしまったもの</a:t>
            </a:r>
            <a:endParaRPr kumimoji="1" lang="en-US" altLang="ja-JP" dirty="0"/>
          </a:p>
          <a:p>
            <a:endParaRPr kumimoji="1" lang="en-US" altLang="ja-JP" dirty="0"/>
          </a:p>
          <a:p>
            <a:r>
              <a:rPr kumimoji="1" lang="ja-JP" altLang="en-US" dirty="0"/>
              <a:t>下の対比の意味</a:t>
            </a:r>
            <a:endParaRPr kumimoji="1" lang="en-US" altLang="ja-JP" dirty="0"/>
          </a:p>
          <a:p>
            <a:r>
              <a:rPr kumimoji="1" lang="ja-JP" altLang="en-US" dirty="0"/>
              <a:t>とりあえず、うまくいっているがそのままアニメの背景画像として利用するには不十分である</a:t>
            </a:r>
          </a:p>
        </p:txBody>
      </p:sp>
      <p:sp>
        <p:nvSpPr>
          <p:cNvPr id="4" name="スライド番号プレースホルダー 3">
            <a:extLst>
              <a:ext uri="{FF2B5EF4-FFF2-40B4-BE49-F238E27FC236}">
                <a16:creationId xmlns:a16="http://schemas.microsoft.com/office/drawing/2014/main" id="{0BBFAEA1-2F95-3B4A-AEF0-0E5583B1684C}"/>
              </a:ext>
            </a:extLst>
          </p:cNvPr>
          <p:cNvSpPr>
            <a:spLocks noGrp="1"/>
          </p:cNvSpPr>
          <p:nvPr>
            <p:ph type="sldNum" sz="quarter" idx="5"/>
          </p:nvPr>
        </p:nvSpPr>
        <p:spPr/>
        <p:txBody>
          <a:bodyPr/>
          <a:lstStyle/>
          <a:p>
            <a:fld id="{3AC8EA01-3B36-4A93-B7E3-FC102F3F4A24}" type="slidenum">
              <a:rPr kumimoji="1" lang="ja-JP" altLang="en-US" smtClean="0"/>
              <a:t>8</a:t>
            </a:fld>
            <a:endParaRPr kumimoji="1" lang="ja-JP" altLang="en-US"/>
          </a:p>
        </p:txBody>
      </p:sp>
    </p:spTree>
    <p:extLst>
      <p:ext uri="{BB962C8B-B14F-4D97-AF65-F5344CB8AC3E}">
        <p14:creationId xmlns:p14="http://schemas.microsoft.com/office/powerpoint/2010/main" val="2427356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512BF-C6ED-4B70-E27C-446D2A16860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95ABE34-D9BA-B974-F230-1CB98329EA1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B535CD8-C418-01A0-DACC-DC7AFEF917DD}"/>
              </a:ext>
            </a:extLst>
          </p:cNvPr>
          <p:cNvSpPr>
            <a:spLocks noGrp="1"/>
          </p:cNvSpPr>
          <p:nvPr>
            <p:ph type="body" idx="1"/>
          </p:nvPr>
        </p:nvSpPr>
        <p:spPr/>
        <p:txBody>
          <a:bodyPr/>
          <a:lstStyle/>
          <a:p>
            <a:r>
              <a:rPr kumimoji="1" lang="ja-JP" altLang="en-US" dirty="0"/>
              <a:t>左に大まかな流れと結果、右に出力例を６個ほど</a:t>
            </a:r>
            <a:endParaRPr kumimoji="1" lang="en-US" altLang="ja-JP" dirty="0"/>
          </a:p>
          <a:p>
            <a:endParaRPr kumimoji="1" lang="en-US" altLang="ja-JP" dirty="0"/>
          </a:p>
          <a:p>
            <a:r>
              <a:rPr kumimoji="1" lang="ja-JP" altLang="en-US" dirty="0"/>
              <a:t>今後の課題は口頭で</a:t>
            </a:r>
            <a:endParaRPr kumimoji="1" lang="en-US" altLang="ja-JP" dirty="0"/>
          </a:p>
          <a:p>
            <a:endParaRPr kumimoji="1" lang="en-US" altLang="ja-JP" dirty="0"/>
          </a:p>
          <a:p>
            <a:endParaRPr kumimoji="1" lang="en-US" altLang="ja-JP" dirty="0"/>
          </a:p>
          <a:p>
            <a:r>
              <a:rPr kumimoji="1" lang="en-US" altLang="ja-JP" sz="1200" dirty="0">
                <a:solidFill>
                  <a:schemeClr val="tx1"/>
                </a:solidFill>
              </a:rPr>
              <a:t>&lt;</a:t>
            </a:r>
            <a:r>
              <a:rPr kumimoji="1" lang="ja-JP" altLang="en-US" sz="1200" dirty="0">
                <a:solidFill>
                  <a:schemeClr val="tx1"/>
                </a:solidFill>
              </a:rPr>
              <a:t>今後の課題</a:t>
            </a:r>
            <a:r>
              <a:rPr kumimoji="1" lang="en-US" altLang="ja-JP" sz="1200" dirty="0">
                <a:solidFill>
                  <a:schemeClr val="tx1"/>
                </a:solidFill>
              </a:rPr>
              <a:t>&gt;</a:t>
            </a:r>
          </a:p>
          <a:p>
            <a:pPr marL="457200" indent="-457200">
              <a:buAutoNum type="arabicPeriod"/>
            </a:pPr>
            <a:r>
              <a:rPr kumimoji="1" lang="ja-JP" altLang="en-US" sz="1200" dirty="0">
                <a:solidFill>
                  <a:schemeClr val="tx1"/>
                </a:solidFill>
                <a:latin typeface="Arial" panose="020B0604020202020204" pitchFamily="34" charset="0"/>
                <a:cs typeface="Arial" panose="020B0604020202020204" pitchFamily="34" charset="0"/>
              </a:rPr>
              <a:t>領域として出てこない部分の扱いをどうするのか</a:t>
            </a:r>
            <a:endParaRPr kumimoji="1" lang="en-US" altLang="ja-JP" sz="1200" dirty="0">
              <a:solidFill>
                <a:schemeClr val="tx1"/>
              </a:solidFill>
              <a:latin typeface="Arial" panose="020B0604020202020204" pitchFamily="34" charset="0"/>
              <a:cs typeface="Arial" panose="020B0604020202020204" pitchFamily="34" charset="0"/>
            </a:endParaRPr>
          </a:p>
          <a:p>
            <a:pPr marL="457200" indent="-457200">
              <a:buAutoNum type="arabicPeriod"/>
            </a:pPr>
            <a:r>
              <a:rPr kumimoji="1" lang="ja-JP" altLang="en-US" sz="1200" dirty="0">
                <a:solidFill>
                  <a:schemeClr val="tx1"/>
                </a:solidFill>
                <a:latin typeface="Arial" panose="020B0604020202020204" pitchFamily="34" charset="0"/>
                <a:cs typeface="Arial" panose="020B0604020202020204" pitchFamily="34" charset="0"/>
              </a:rPr>
              <a:t>色の決定に関するルールの整備</a:t>
            </a:r>
            <a:endParaRPr kumimoji="1" lang="en-US" altLang="ja-JP" sz="1200" dirty="0">
              <a:solidFill>
                <a:schemeClr val="tx1"/>
              </a:solidFill>
              <a:latin typeface="Arial" panose="020B0604020202020204" pitchFamily="34" charset="0"/>
              <a:cs typeface="Arial" panose="020B0604020202020204" pitchFamily="34" charset="0"/>
            </a:endParaRPr>
          </a:p>
          <a:p>
            <a:endParaRPr kumimoji="1" lang="ja-JP" altLang="en-US" dirty="0"/>
          </a:p>
        </p:txBody>
      </p:sp>
      <p:sp>
        <p:nvSpPr>
          <p:cNvPr id="4" name="スライド番号プレースホルダー 3">
            <a:extLst>
              <a:ext uri="{FF2B5EF4-FFF2-40B4-BE49-F238E27FC236}">
                <a16:creationId xmlns:a16="http://schemas.microsoft.com/office/drawing/2014/main" id="{53D145FC-F9D2-99BB-83B2-39A45ED5CB25}"/>
              </a:ext>
            </a:extLst>
          </p:cNvPr>
          <p:cNvSpPr>
            <a:spLocks noGrp="1"/>
          </p:cNvSpPr>
          <p:nvPr>
            <p:ph type="sldNum" sz="quarter" idx="5"/>
          </p:nvPr>
        </p:nvSpPr>
        <p:spPr/>
        <p:txBody>
          <a:bodyPr/>
          <a:lstStyle/>
          <a:p>
            <a:fld id="{3AC8EA01-3B36-4A93-B7E3-FC102F3F4A24}" type="slidenum">
              <a:rPr kumimoji="1" lang="ja-JP" altLang="en-US" smtClean="0"/>
              <a:t>9</a:t>
            </a:fld>
            <a:endParaRPr kumimoji="1" lang="ja-JP" altLang="en-US"/>
          </a:p>
        </p:txBody>
      </p:sp>
    </p:spTree>
    <p:extLst>
      <p:ext uri="{BB962C8B-B14F-4D97-AF65-F5344CB8AC3E}">
        <p14:creationId xmlns:p14="http://schemas.microsoft.com/office/powerpoint/2010/main" val="1081419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E1F02E03-D4CB-4077-9AE0-982832AF12AF}" type="datetime1">
              <a:rPr kumimoji="1" lang="ja-JP" altLang="en-US" smtClean="0"/>
              <a:t>2026/9/30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sz="2800"/>
            </a:lvl1pPr>
          </a:lstStyle>
          <a:p>
            <a:fld id="{29A669C4-3E33-40D5-9129-B2BA8A5F5F4A}" type="slidenum">
              <a:rPr kumimoji="1" lang="ja-JP" altLang="en-US" smtClean="0"/>
              <a:pPr/>
              <a:t>‹#›</a:t>
            </a:fld>
            <a:endParaRPr kumimoji="1" lang="ja-JP" altLang="en-US" sz="2800"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5664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C6F81BCA-CB7D-4552-A5D6-13AFB5755C93}" type="datetime1">
              <a:rPr kumimoji="1" lang="ja-JP" altLang="en-US" smtClean="0"/>
              <a:t>2026/9/30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9A669C4-3E33-40D5-9129-B2BA8A5F5F4A}" type="slidenum">
              <a:rPr kumimoji="1" lang="ja-JP" altLang="en-US" smtClean="0"/>
              <a:t>‹#›</a:t>
            </a:fld>
            <a:endParaRPr kumimoji="1" lang="ja-JP" altLang="en-US"/>
          </a:p>
        </p:txBody>
      </p:sp>
    </p:spTree>
    <p:extLst>
      <p:ext uri="{BB962C8B-B14F-4D97-AF65-F5344CB8AC3E}">
        <p14:creationId xmlns:p14="http://schemas.microsoft.com/office/powerpoint/2010/main" val="513871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16CE6A1-A3D5-4FED-9F11-7F214F23A6FA}" type="datetime1">
              <a:rPr kumimoji="1" lang="ja-JP" altLang="en-US" smtClean="0"/>
              <a:t>2026/9/30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9A669C4-3E33-40D5-9129-B2BA8A5F5F4A}" type="slidenum">
              <a:rPr kumimoji="1" lang="ja-JP" altLang="en-US" smtClean="0"/>
              <a:t>‹#›</a:t>
            </a:fld>
            <a:endParaRPr kumimoji="1" lang="ja-JP"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2467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6AA1C743-7678-4143-B4BA-530DB696E0D7}" type="datetime1">
              <a:rPr kumimoji="1" lang="ja-JP" altLang="en-US" smtClean="0"/>
              <a:t>2026/9/30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9A669C4-3E33-40D5-9129-B2BA8A5F5F4A}" type="slidenum">
              <a:rPr kumimoji="1" lang="ja-JP" altLang="en-US" smtClean="0"/>
              <a:t>‹#›</a:t>
            </a:fld>
            <a:endParaRPr kumimoji="1" lang="ja-JP" altLang="en-US"/>
          </a:p>
        </p:txBody>
      </p:sp>
    </p:spTree>
    <p:extLst>
      <p:ext uri="{BB962C8B-B14F-4D97-AF65-F5344CB8AC3E}">
        <p14:creationId xmlns:p14="http://schemas.microsoft.com/office/powerpoint/2010/main" val="4195653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97280" y="2582334"/>
            <a:ext cx="4937760" cy="33782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217920" y="2582334"/>
            <a:ext cx="4937760" cy="33782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FEB9F941-9932-48CF-9AE9-43B3498B0FD9}" type="datetime1">
              <a:rPr kumimoji="1" lang="ja-JP" altLang="en-US" smtClean="0"/>
              <a:t>2026/9/30</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9A669C4-3E33-40D5-9129-B2BA8A5F5F4A}" type="slidenum">
              <a:rPr kumimoji="1" lang="ja-JP" altLang="en-US" smtClean="0"/>
              <a:t>‹#›</a:t>
            </a:fld>
            <a:endParaRPr kumimoji="1" lang="ja-JP" altLang="en-US"/>
          </a:p>
        </p:txBody>
      </p:sp>
    </p:spTree>
    <p:extLst>
      <p:ext uri="{BB962C8B-B14F-4D97-AF65-F5344CB8AC3E}">
        <p14:creationId xmlns:p14="http://schemas.microsoft.com/office/powerpoint/2010/main" val="549962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B06DF648-826A-459C-89F7-E7EA9E005FCB}" type="datetime1">
              <a:rPr kumimoji="1" lang="ja-JP" altLang="en-US" smtClean="0"/>
              <a:t>2026/9/30</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29A669C4-3E33-40D5-9129-B2BA8A5F5F4A}" type="slidenum">
              <a:rPr kumimoji="1" lang="ja-JP" altLang="en-US" smtClean="0"/>
              <a:t>‹#›</a:t>
            </a:fld>
            <a:endParaRPr kumimoji="1" lang="ja-JP" altLang="en-US"/>
          </a:p>
        </p:txBody>
      </p:sp>
    </p:spTree>
    <p:extLst>
      <p:ext uri="{BB962C8B-B14F-4D97-AF65-F5344CB8AC3E}">
        <p14:creationId xmlns:p14="http://schemas.microsoft.com/office/powerpoint/2010/main" val="1844258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5A272D1-C541-46D6-B6C7-45AC0CB836EA}" type="datetime1">
              <a:rPr kumimoji="1" lang="ja-JP" altLang="en-US" smtClean="0"/>
              <a:t>2026/9/30</a:t>
            </a:fld>
            <a:endParaRPr kumimoji="1" lang="ja-JP"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kumimoji="1" lang="ja-JP" altLang="en-US"/>
          </a:p>
        </p:txBody>
      </p:sp>
      <p:sp>
        <p:nvSpPr>
          <p:cNvPr id="9" name="Slide Number Placeholder 8"/>
          <p:cNvSpPr>
            <a:spLocks noGrp="1"/>
          </p:cNvSpPr>
          <p:nvPr>
            <p:ph type="sldNum" sz="quarter" idx="12"/>
          </p:nvPr>
        </p:nvSpPr>
        <p:spPr/>
        <p:txBody>
          <a:bodyPr/>
          <a:lstStyle/>
          <a:p>
            <a:fld id="{29A669C4-3E33-40D5-9129-B2BA8A5F5F4A}" type="slidenum">
              <a:rPr kumimoji="1" lang="ja-JP" altLang="en-US" smtClean="0"/>
              <a:t>‹#›</a:t>
            </a:fld>
            <a:endParaRPr kumimoji="1" lang="ja-JP" altLang="en-US"/>
          </a:p>
        </p:txBody>
      </p:sp>
    </p:spTree>
    <p:extLst>
      <p:ext uri="{BB962C8B-B14F-4D97-AF65-F5344CB8AC3E}">
        <p14:creationId xmlns:p14="http://schemas.microsoft.com/office/powerpoint/2010/main" val="3716137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A9EE689-7C9F-4089-82A6-3BC03C6BC01F}" type="datetime1">
              <a:rPr kumimoji="1" lang="ja-JP" altLang="en-US" smtClean="0"/>
              <a:t>2026/9/30</a:t>
            </a:fld>
            <a:endParaRPr kumimoji="1" lang="ja-JP"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kumimoji="1" lang="ja-JP"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9A669C4-3E33-40D5-9129-B2BA8A5F5F4A}" type="slidenum">
              <a:rPr kumimoji="1" lang="ja-JP" altLang="en-US" smtClean="0"/>
              <a:t>‹#›</a:t>
            </a:fld>
            <a:endParaRPr kumimoji="1" lang="ja-JP" altLang="en-US"/>
          </a:p>
        </p:txBody>
      </p:sp>
    </p:spTree>
    <p:extLst>
      <p:ext uri="{BB962C8B-B14F-4D97-AF65-F5344CB8AC3E}">
        <p14:creationId xmlns:p14="http://schemas.microsoft.com/office/powerpoint/2010/main" val="471565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DAD846C-EE58-409B-9F06-3E791C2BF7A8}" type="datetime1">
              <a:rPr kumimoji="1" lang="ja-JP" altLang="en-US" smtClean="0"/>
              <a:t>2026/9/30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9A669C4-3E33-40D5-9129-B2BA8A5F5F4A}" type="slidenum">
              <a:rPr kumimoji="1" lang="ja-JP" altLang="en-US" smtClean="0"/>
              <a:t>‹#›</a:t>
            </a:fld>
            <a:endParaRPr kumimoji="1" lang="ja-JP" altLang="en-US"/>
          </a:p>
        </p:txBody>
      </p:sp>
    </p:spTree>
    <p:extLst>
      <p:ext uri="{BB962C8B-B14F-4D97-AF65-F5344CB8AC3E}">
        <p14:creationId xmlns:p14="http://schemas.microsoft.com/office/powerpoint/2010/main" val="593666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879A9F7-BFC4-4290-9E67-F73638CE4174}" type="datetime1">
              <a:rPr kumimoji="1" lang="ja-JP" altLang="en-US" smtClean="0"/>
              <a:t>2026/9/30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9A669C4-3E33-40D5-9129-B2BA8A5F5F4A}" type="slidenum">
              <a:rPr kumimoji="1" lang="ja-JP" altLang="en-US" smtClean="0"/>
              <a:t>‹#›</a:t>
            </a:fld>
            <a:endParaRPr kumimoji="1" lang="ja-JP" altLang="en-US"/>
          </a:p>
        </p:txBody>
      </p:sp>
    </p:spTree>
    <p:extLst>
      <p:ext uri="{BB962C8B-B14F-4D97-AF65-F5344CB8AC3E}">
        <p14:creationId xmlns:p14="http://schemas.microsoft.com/office/powerpoint/2010/main" val="1107546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51363DF-AA9E-42AD-B08B-0E9A293CD071}" type="datetime1">
              <a:rPr kumimoji="1" lang="ja-JP" altLang="en-US" smtClean="0"/>
              <a:t>2026/9/30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9A669C4-3E33-40D5-9129-B2BA8A5F5F4A}" type="slidenum">
              <a:rPr kumimoji="1" lang="ja-JP" altLang="en-US" smtClean="0"/>
              <a:t>‹#›</a:t>
            </a:fld>
            <a:endParaRPr kumimoji="1" lang="ja-JP" altLang="en-US"/>
          </a:p>
        </p:txBody>
      </p:sp>
    </p:spTree>
    <p:extLst>
      <p:ext uri="{BB962C8B-B14F-4D97-AF65-F5344CB8AC3E}">
        <p14:creationId xmlns:p14="http://schemas.microsoft.com/office/powerpoint/2010/main" val="3976123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451E20-9C2B-2C2A-1EA5-312435B8DCF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880590E-2288-192C-AED6-D6307C113EB2}"/>
              </a:ext>
            </a:extLst>
          </p:cNvPr>
          <p:cNvSpPr>
            <a:spLocks noGrp="1"/>
          </p:cNvSpPr>
          <p:nvPr>
            <p:ph type="dt" sz="half" idx="10"/>
          </p:nvPr>
        </p:nvSpPr>
        <p:spPr/>
        <p:txBody>
          <a:bodyPr/>
          <a:lstStyle/>
          <a:p>
            <a:fld id="{AA2CB5E8-AD2F-4576-A22A-031EEE33AC44}" type="datetime1">
              <a:rPr kumimoji="1" lang="ja-JP" altLang="en-US" smtClean="0"/>
              <a:t>2026/9/30</a:t>
            </a:fld>
            <a:endParaRPr kumimoji="1" lang="ja-JP" altLang="en-US"/>
          </a:p>
        </p:txBody>
      </p:sp>
      <p:sp>
        <p:nvSpPr>
          <p:cNvPr id="4" name="フッター プレースホルダー 3">
            <a:extLst>
              <a:ext uri="{FF2B5EF4-FFF2-40B4-BE49-F238E27FC236}">
                <a16:creationId xmlns:a16="http://schemas.microsoft.com/office/drawing/2014/main" id="{AAB78CB9-8045-90B1-09FE-6F9404A9AD0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32777A7-0B29-EBA3-B56C-8054A2F2C9AB}"/>
              </a:ext>
            </a:extLst>
          </p:cNvPr>
          <p:cNvSpPr>
            <a:spLocks noGrp="1"/>
          </p:cNvSpPr>
          <p:nvPr>
            <p:ph type="sldNum" sz="quarter" idx="12"/>
          </p:nvPr>
        </p:nvSpPr>
        <p:spPr/>
        <p:txBody>
          <a:bodyPr/>
          <a:lstStyle/>
          <a:p>
            <a:fld id="{29A669C4-3E33-40D5-9129-B2BA8A5F5F4A}" type="slidenum">
              <a:rPr kumimoji="1" lang="ja-JP" altLang="en-US" smtClean="0"/>
              <a:pPr/>
              <a:t>‹#›</a:t>
            </a:fld>
            <a:endParaRPr kumimoji="1" lang="ja-JP" altLang="en-US" sz="2800" dirty="0"/>
          </a:p>
        </p:txBody>
      </p:sp>
    </p:spTree>
    <p:extLst>
      <p:ext uri="{BB962C8B-B14F-4D97-AF65-F5344CB8AC3E}">
        <p14:creationId xmlns:p14="http://schemas.microsoft.com/office/powerpoint/2010/main" val="189175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ja-JP" altLang="en-US" dirty="0"/>
              <a:t>マスター タイトルの書式設定 </a:t>
            </a:r>
            <a:r>
              <a:rPr lang="en-US" altLang="ja-JP" dirty="0"/>
              <a:t>A</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 </a:t>
            </a:r>
            <a:r>
              <a:rPr lang="ja-JP" altLang="en-US" dirty="0"/>
              <a:t>レベル</a:t>
            </a:r>
          </a:p>
          <a:p>
            <a:pPr lvl="4"/>
            <a:r>
              <a:rPr lang="ja-JP" altLang="en-US" dirty="0"/>
              <a:t>第 </a:t>
            </a:r>
            <a:r>
              <a:rPr lang="en-US" altLang="ja-JP" dirty="0"/>
              <a:t>5 </a:t>
            </a:r>
            <a:r>
              <a:rPr lang="ja-JP" altLang="en-US" dirty="0"/>
              <a:t>レベル</a:t>
            </a:r>
            <a:endParaRPr lang="en-US" altLang="ja-JP" dirty="0"/>
          </a:p>
          <a:p>
            <a:pPr lvl="4"/>
            <a:r>
              <a:rPr lang="en-US" dirty="0" err="1"/>
              <a:t>sdf</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14666AF-5A70-4045-BEB4-74E9776A9716}" type="datetime1">
              <a:rPr kumimoji="1" lang="ja-JP" altLang="en-US" smtClean="0"/>
              <a:t>2026/9/30</a:t>
            </a:fld>
            <a:endParaRPr kumimoji="1" lang="ja-JP"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kumimoji="1" lang="ja-JP"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2800">
                <a:solidFill>
                  <a:srgbClr val="FFFFFF"/>
                </a:solidFill>
              </a:defRPr>
            </a:lvl1pPr>
          </a:lstStyle>
          <a:p>
            <a:fld id="{29A669C4-3E33-40D5-9129-B2BA8A5F5F4A}" type="slidenum">
              <a:rPr kumimoji="1" lang="ja-JP" altLang="en-US" smtClean="0"/>
              <a:pPr/>
              <a:t>‹#›</a:t>
            </a:fld>
            <a:endParaRPr kumimoji="1" lang="ja-JP" altLang="en-US" sz="2800"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52998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84" r:id="rId12"/>
  </p:sldLayoutIdLst>
  <p:hf hdr="0" ftr="0" dt="0"/>
  <p:txStyles>
    <p:title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Arial" panose="020B0604020202020204" pitchFamily="34" charset="0"/>
          <a:ea typeface="ＭＳ Ｐゴシック" panose="020B0600070205080204" pitchFamily="50" charset="-128"/>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kumimoji="1" sz="2000" kern="1200" baseline="0">
          <a:solidFill>
            <a:schemeClr val="tx1">
              <a:lumMod val="75000"/>
              <a:lumOff val="25000"/>
            </a:schemeClr>
          </a:solidFill>
          <a:latin typeface="Arial" panose="020B0604020202020204" pitchFamily="34" charset="0"/>
          <a:ea typeface="ＭＳ Ｐゴシック" panose="020B0600070205080204" pitchFamily="50" charset="-128"/>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800" kern="1200" baseline="0">
          <a:solidFill>
            <a:schemeClr val="tx1">
              <a:lumMod val="75000"/>
              <a:lumOff val="25000"/>
            </a:schemeClr>
          </a:solidFill>
          <a:latin typeface="Arial" panose="020B0604020202020204" pitchFamily="34" charset="0"/>
          <a:ea typeface="ＭＳ Ｐゴシック" panose="020B0600070205080204" pitchFamily="50" charset="-128"/>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baseline="0">
          <a:solidFill>
            <a:schemeClr val="tx1">
              <a:lumMod val="75000"/>
              <a:lumOff val="25000"/>
            </a:schemeClr>
          </a:solidFill>
          <a:latin typeface="Arial" panose="020B0604020202020204" pitchFamily="34" charset="0"/>
          <a:ea typeface="ＭＳ Ｐゴシック" panose="020B0600070205080204" pitchFamily="50" charset="-128"/>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baseline="0">
          <a:solidFill>
            <a:schemeClr val="tx1">
              <a:lumMod val="75000"/>
              <a:lumOff val="25000"/>
            </a:schemeClr>
          </a:solidFill>
          <a:latin typeface="Arial" panose="020B0604020202020204" pitchFamily="34" charset="0"/>
          <a:ea typeface="ＭＳ Ｐゴシック" panose="020B0600070205080204" pitchFamily="50" charset="-128"/>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baseline="0">
          <a:solidFill>
            <a:schemeClr val="tx1">
              <a:lumMod val="75000"/>
              <a:lumOff val="25000"/>
            </a:schemeClr>
          </a:solidFill>
          <a:latin typeface="Arial" panose="020B0604020202020204" pitchFamily="34" charset="0"/>
          <a:ea typeface="ＭＳ Ｐゴシック" panose="020B0600070205080204" pitchFamily="50" charset="-128"/>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microsoft.com/office/2007/relationships/media" Target="../media/media2.mp4"/><Relationship Id="rId7" Type="http://schemas.openxmlformats.org/officeDocument/2006/relationships/image" Target="../media/image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video" Target="../media/media2.mp4"/></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jpg"/><Relationship Id="rId7"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4.jpg"/><Relationship Id="rId4" Type="http://schemas.openxmlformats.org/officeDocument/2006/relationships/image" Target="../media/image11.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9.jpg"/><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jpg"/><Relationship Id="rId4" Type="http://schemas.openxmlformats.org/officeDocument/2006/relationships/image" Target="../media/image4.jpg"/><Relationship Id="rId9"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85214CA6-EE11-B7F9-16BC-75ACBA94B645}"/>
              </a:ext>
            </a:extLst>
          </p:cNvPr>
          <p:cNvSpPr>
            <a:spLocks noGrp="1"/>
          </p:cNvSpPr>
          <p:nvPr>
            <p:ph type="subTitle" idx="1"/>
          </p:nvPr>
        </p:nvSpPr>
        <p:spPr/>
        <p:txBody>
          <a:bodyPr>
            <a:noAutofit/>
          </a:bodyPr>
          <a:lstStyle/>
          <a:p>
            <a:r>
              <a:rPr kumimoji="1" lang="ja-JP" altLang="en-US" dirty="0">
                <a:solidFill>
                  <a:schemeClr val="tx1"/>
                </a:solidFill>
              </a:rPr>
              <a:t>コンピューターグラフィックス第</a:t>
            </a:r>
            <a:r>
              <a:rPr kumimoji="1" lang="en-US" altLang="ja-JP" dirty="0">
                <a:solidFill>
                  <a:schemeClr val="tx1"/>
                </a:solidFill>
              </a:rPr>
              <a:t>2</a:t>
            </a:r>
            <a:r>
              <a:rPr kumimoji="1" lang="ja-JP" altLang="en-US" dirty="0">
                <a:solidFill>
                  <a:schemeClr val="tx1"/>
                </a:solidFill>
              </a:rPr>
              <a:t>研究室</a:t>
            </a:r>
            <a:endParaRPr kumimoji="1" lang="en-US" altLang="ja-JP" dirty="0">
              <a:solidFill>
                <a:schemeClr val="tx1"/>
              </a:solidFill>
            </a:endParaRPr>
          </a:p>
          <a:p>
            <a:r>
              <a:rPr kumimoji="1" lang="en-US" altLang="ja-JP" dirty="0">
                <a:solidFill>
                  <a:schemeClr val="tx1"/>
                </a:solidFill>
              </a:rPr>
              <a:t>2600220425-7</a:t>
            </a:r>
          </a:p>
          <a:p>
            <a:r>
              <a:rPr lang="ja-JP" altLang="en-US" dirty="0">
                <a:solidFill>
                  <a:schemeClr val="tx1"/>
                </a:solidFill>
              </a:rPr>
              <a:t>吉井　惇泰</a:t>
            </a:r>
            <a:endParaRPr kumimoji="1" lang="en-US" altLang="ja-JP" dirty="0">
              <a:solidFill>
                <a:schemeClr val="tx1"/>
              </a:solidFill>
            </a:endParaRPr>
          </a:p>
        </p:txBody>
      </p:sp>
      <p:sp>
        <p:nvSpPr>
          <p:cNvPr id="4" name="テキスト ボックス 3">
            <a:extLst>
              <a:ext uri="{FF2B5EF4-FFF2-40B4-BE49-F238E27FC236}">
                <a16:creationId xmlns:a16="http://schemas.microsoft.com/office/drawing/2014/main" id="{EAFD405E-8B21-B0B1-B99C-D094EB226898}"/>
              </a:ext>
            </a:extLst>
          </p:cNvPr>
          <p:cNvSpPr txBox="1"/>
          <p:nvPr/>
        </p:nvSpPr>
        <p:spPr>
          <a:xfrm>
            <a:off x="222826" y="2288122"/>
            <a:ext cx="11812849" cy="1938992"/>
          </a:xfrm>
          <a:prstGeom prst="rect">
            <a:avLst/>
          </a:prstGeom>
          <a:noFill/>
        </p:spPr>
        <p:txBody>
          <a:bodyPr wrap="none" rtlCol="0">
            <a:spAutoFit/>
          </a:bodyPr>
          <a:lstStyle/>
          <a:p>
            <a:r>
              <a:rPr kumimoji="1" lang="ja-JP" altLang="en-US" sz="60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j-cs"/>
              </a:rPr>
              <a:t>実写画像からセルアニメ調画像への</a:t>
            </a:r>
          </a:p>
          <a:p>
            <a:r>
              <a:rPr kumimoji="1" lang="ja-JP" altLang="en-US" sz="6000" b="0" i="0" u="none" strike="noStrike" kern="1200" cap="none" spc="-5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j-cs"/>
              </a:rPr>
              <a:t>スタイル変換手法</a:t>
            </a:r>
          </a:p>
        </p:txBody>
      </p:sp>
      <p:sp>
        <p:nvSpPr>
          <p:cNvPr id="2" name="スライド番号プレースホルダー 1">
            <a:extLst>
              <a:ext uri="{FF2B5EF4-FFF2-40B4-BE49-F238E27FC236}">
                <a16:creationId xmlns:a16="http://schemas.microsoft.com/office/drawing/2014/main" id="{74D47AC5-A02A-EF7C-3E4E-A53810021282}"/>
              </a:ext>
            </a:extLst>
          </p:cNvPr>
          <p:cNvSpPr>
            <a:spLocks noGrp="1"/>
          </p:cNvSpPr>
          <p:nvPr>
            <p:ph type="sldNum" sz="quarter" idx="12"/>
          </p:nvPr>
        </p:nvSpPr>
        <p:spPr/>
        <p:txBody>
          <a:bodyPr/>
          <a:lstStyle/>
          <a:p>
            <a:fld id="{29A669C4-3E33-40D5-9129-B2BA8A5F5F4A}" type="slidenum">
              <a:rPr kumimoji="1" lang="ja-JP" altLang="en-US" smtClean="0"/>
              <a:pPr/>
              <a:t>1</a:t>
            </a:fld>
            <a:endParaRPr kumimoji="1" lang="ja-JP" altLang="en-US" sz="2800" dirty="0"/>
          </a:p>
        </p:txBody>
      </p:sp>
    </p:spTree>
    <p:extLst>
      <p:ext uri="{BB962C8B-B14F-4D97-AF65-F5344CB8AC3E}">
        <p14:creationId xmlns:p14="http://schemas.microsoft.com/office/powerpoint/2010/main" val="3267657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8BE176E5-CBEE-6F76-DDF2-FF4F9BC376ED}"/>
              </a:ext>
            </a:extLst>
          </p:cNvPr>
          <p:cNvSpPr/>
          <p:nvPr/>
        </p:nvSpPr>
        <p:spPr>
          <a:xfrm>
            <a:off x="8104700" y="5130926"/>
            <a:ext cx="3246326" cy="1200329"/>
          </a:xfrm>
          <a:prstGeom prst="roundRect">
            <a:avLst>
              <a:gd name="adj" fmla="val 2587"/>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テキスト ボックス 1">
            <a:extLst>
              <a:ext uri="{FF2B5EF4-FFF2-40B4-BE49-F238E27FC236}">
                <a16:creationId xmlns:a16="http://schemas.microsoft.com/office/drawing/2014/main" id="{D93FD04B-BC5F-57E4-3480-A3A826D46F52}"/>
              </a:ext>
            </a:extLst>
          </p:cNvPr>
          <p:cNvSpPr txBox="1"/>
          <p:nvPr/>
        </p:nvSpPr>
        <p:spPr>
          <a:xfrm>
            <a:off x="0" y="0"/>
            <a:ext cx="1415772" cy="830997"/>
          </a:xfrm>
          <a:prstGeom prst="rect">
            <a:avLst/>
          </a:prstGeom>
          <a:noFill/>
        </p:spPr>
        <p:txBody>
          <a:bodyPr wrap="none" rtlCol="0">
            <a:spAutoFit/>
          </a:bodyPr>
          <a:lstStyle/>
          <a:p>
            <a:r>
              <a:rPr kumimoji="1" lang="ja-JP" altLang="en-US" sz="4800" dirty="0"/>
              <a:t>背景</a:t>
            </a:r>
          </a:p>
        </p:txBody>
      </p:sp>
      <p:sp>
        <p:nvSpPr>
          <p:cNvPr id="6" name="テキスト ボックス 5">
            <a:extLst>
              <a:ext uri="{FF2B5EF4-FFF2-40B4-BE49-F238E27FC236}">
                <a16:creationId xmlns:a16="http://schemas.microsoft.com/office/drawing/2014/main" id="{0150A190-DF6E-5B57-8BB3-E0F65C8D18B6}"/>
              </a:ext>
            </a:extLst>
          </p:cNvPr>
          <p:cNvSpPr txBox="1"/>
          <p:nvPr/>
        </p:nvSpPr>
        <p:spPr>
          <a:xfrm>
            <a:off x="6184710" y="3969052"/>
            <a:ext cx="5506636" cy="1077218"/>
          </a:xfrm>
          <a:prstGeom prst="rect">
            <a:avLst/>
          </a:prstGeom>
          <a:noFill/>
        </p:spPr>
        <p:txBody>
          <a:bodyPr wrap="none" rtlCol="0">
            <a:spAutoFit/>
          </a:bodyPr>
          <a:lstStyle/>
          <a:p>
            <a:r>
              <a:rPr kumimoji="1" lang="ja-JP" altLang="en-US" sz="2400" dirty="0"/>
              <a:t>背景動画の例</a:t>
            </a:r>
            <a:r>
              <a:rPr kumimoji="1" lang="en-US" altLang="ja-JP" sz="2400" dirty="0"/>
              <a:t>(</a:t>
            </a:r>
            <a:r>
              <a:rPr kumimoji="1" lang="ja-JP" altLang="en-US" sz="2400" dirty="0"/>
              <a:t>手描き人物＋手描き背景</a:t>
            </a:r>
            <a:r>
              <a:rPr kumimoji="1" lang="en-US" altLang="ja-JP" sz="2400" dirty="0"/>
              <a:t>)</a:t>
            </a:r>
          </a:p>
          <a:p>
            <a:r>
              <a:rPr kumimoji="1" lang="en-US" altLang="ja-JP" sz="2000" dirty="0"/>
              <a:t>『</a:t>
            </a:r>
            <a:r>
              <a:rPr kumimoji="1" lang="ja-JP" altLang="en-US" sz="2000" dirty="0"/>
              <a:t>紅の豚</a:t>
            </a:r>
            <a:r>
              <a:rPr kumimoji="1" lang="en-US" altLang="ja-JP" sz="2000" dirty="0"/>
              <a:t>』</a:t>
            </a:r>
            <a:br>
              <a:rPr kumimoji="1" lang="en-US" altLang="ja-JP" sz="2000" dirty="0"/>
            </a:br>
            <a:r>
              <a:rPr kumimoji="1" lang="en-US" altLang="ja-JP" sz="2000" dirty="0"/>
              <a:t>(C)1992 Studio Ghibli</a:t>
            </a:r>
            <a:r>
              <a:rPr kumimoji="1" lang="ja-JP" altLang="en-US" sz="2000" dirty="0"/>
              <a:t>・</a:t>
            </a:r>
            <a:r>
              <a:rPr kumimoji="1" lang="en-US" altLang="ja-JP" sz="2000" dirty="0"/>
              <a:t>NN</a:t>
            </a:r>
          </a:p>
        </p:txBody>
      </p:sp>
      <p:sp>
        <p:nvSpPr>
          <p:cNvPr id="7" name="テキスト ボックス 6">
            <a:extLst>
              <a:ext uri="{FF2B5EF4-FFF2-40B4-BE49-F238E27FC236}">
                <a16:creationId xmlns:a16="http://schemas.microsoft.com/office/drawing/2014/main" id="{620BFFC8-E9C5-583F-21D0-63D3C0743BC1}"/>
              </a:ext>
            </a:extLst>
          </p:cNvPr>
          <p:cNvSpPr txBox="1"/>
          <p:nvPr/>
        </p:nvSpPr>
        <p:spPr>
          <a:xfrm>
            <a:off x="302972" y="3969052"/>
            <a:ext cx="5357557" cy="1077218"/>
          </a:xfrm>
          <a:prstGeom prst="rect">
            <a:avLst/>
          </a:prstGeom>
          <a:noFill/>
        </p:spPr>
        <p:txBody>
          <a:bodyPr wrap="none" rtlCol="0">
            <a:spAutoFit/>
          </a:bodyPr>
          <a:lstStyle/>
          <a:p>
            <a:r>
              <a:rPr kumimoji="1" lang="ja-JP" altLang="en-US" sz="2400" dirty="0"/>
              <a:t>一般的な例</a:t>
            </a:r>
            <a:r>
              <a:rPr kumimoji="1" lang="en-US" altLang="ja-JP" sz="2400" dirty="0"/>
              <a:t>(</a:t>
            </a:r>
            <a:r>
              <a:rPr kumimoji="1" lang="ja-JP" altLang="en-US" sz="2400" dirty="0"/>
              <a:t>手描き人物＋</a:t>
            </a:r>
            <a:r>
              <a:rPr kumimoji="1" lang="en-US" altLang="ja-JP" sz="2400" dirty="0"/>
              <a:t>CG</a:t>
            </a:r>
            <a:r>
              <a:rPr kumimoji="1" lang="ja-JP" altLang="en-US" sz="2400" dirty="0"/>
              <a:t>背景</a:t>
            </a:r>
            <a:r>
              <a:rPr kumimoji="1" lang="en-US" altLang="ja-JP" sz="2400" dirty="0"/>
              <a:t>)</a:t>
            </a:r>
            <a:br>
              <a:rPr kumimoji="1" lang="en-US" altLang="ja-JP" sz="2000" dirty="0"/>
            </a:br>
            <a:r>
              <a:rPr kumimoji="1" lang="en-US" altLang="ja-JP" sz="2000" dirty="0"/>
              <a:t>『</a:t>
            </a:r>
            <a:r>
              <a:rPr lang="ja-JP" altLang="ja-JP" sz="2000" dirty="0"/>
              <a:t>機動戦士ガンダム THE ORIGIN Ⅳ 運命の前夜</a:t>
            </a:r>
            <a:r>
              <a:rPr kumimoji="1" lang="en-US" altLang="ja-JP" sz="2000" dirty="0"/>
              <a:t>』</a:t>
            </a:r>
          </a:p>
          <a:p>
            <a:r>
              <a:rPr kumimoji="1" lang="en-US" altLang="ja-JP" sz="2000" dirty="0"/>
              <a:t>(C)</a:t>
            </a:r>
            <a:r>
              <a:rPr kumimoji="1" lang="ja-JP" altLang="en-US" sz="2000" dirty="0"/>
              <a:t>創通・サンライズ</a:t>
            </a:r>
          </a:p>
        </p:txBody>
      </p:sp>
      <p:sp>
        <p:nvSpPr>
          <p:cNvPr id="10" name="テキスト ボックス 9">
            <a:extLst>
              <a:ext uri="{FF2B5EF4-FFF2-40B4-BE49-F238E27FC236}">
                <a16:creationId xmlns:a16="http://schemas.microsoft.com/office/drawing/2014/main" id="{71EA4B18-E160-2D68-9F37-6245E802401F}"/>
              </a:ext>
            </a:extLst>
          </p:cNvPr>
          <p:cNvSpPr txBox="1"/>
          <p:nvPr/>
        </p:nvSpPr>
        <p:spPr>
          <a:xfrm>
            <a:off x="302970" y="5130925"/>
            <a:ext cx="6561925" cy="1200329"/>
          </a:xfrm>
          <a:prstGeom prst="rect">
            <a:avLst/>
          </a:prstGeom>
          <a:noFill/>
        </p:spPr>
        <p:txBody>
          <a:bodyPr wrap="none" rtlCol="0">
            <a:spAutoFit/>
          </a:bodyPr>
          <a:lstStyle/>
          <a:p>
            <a:r>
              <a:rPr kumimoji="1" lang="ja-JP" altLang="en-US" sz="2400" dirty="0"/>
              <a:t>・背景動画</a:t>
            </a:r>
            <a:endParaRPr kumimoji="1" lang="en-US" altLang="ja-JP" sz="2400" dirty="0"/>
          </a:p>
          <a:p>
            <a:r>
              <a:rPr kumimoji="1" lang="en-US" altLang="ja-JP" sz="2400" dirty="0"/>
              <a:t>	</a:t>
            </a:r>
            <a:r>
              <a:rPr kumimoji="1" lang="ja-JP" altLang="en-US" sz="2400" dirty="0"/>
              <a:t>絵の一体感が増す技法であり，</a:t>
            </a:r>
            <a:endParaRPr kumimoji="1" lang="en-US" altLang="ja-JP" sz="2400" dirty="0"/>
          </a:p>
          <a:p>
            <a:r>
              <a:rPr kumimoji="1" lang="en-US" altLang="ja-JP" sz="2400" dirty="0"/>
              <a:t>	CG</a:t>
            </a:r>
            <a:r>
              <a:rPr kumimoji="1" lang="ja-JP" altLang="en-US" sz="2400" dirty="0"/>
              <a:t>が使われている今でも一定のニーズがある</a:t>
            </a:r>
          </a:p>
        </p:txBody>
      </p:sp>
      <p:sp>
        <p:nvSpPr>
          <p:cNvPr id="5" name="テキスト ボックス 4">
            <a:extLst>
              <a:ext uri="{FF2B5EF4-FFF2-40B4-BE49-F238E27FC236}">
                <a16:creationId xmlns:a16="http://schemas.microsoft.com/office/drawing/2014/main" id="{A84325C0-9575-6467-D096-8047A8CA74B9}"/>
              </a:ext>
            </a:extLst>
          </p:cNvPr>
          <p:cNvSpPr txBox="1"/>
          <p:nvPr/>
        </p:nvSpPr>
        <p:spPr>
          <a:xfrm>
            <a:off x="8280191" y="5130926"/>
            <a:ext cx="2895344" cy="1200329"/>
          </a:xfrm>
          <a:prstGeom prst="rect">
            <a:avLst/>
          </a:prstGeom>
          <a:noFill/>
        </p:spPr>
        <p:txBody>
          <a:bodyPr wrap="none" rtlCol="0">
            <a:spAutoFit/>
          </a:bodyPr>
          <a:lstStyle/>
          <a:p>
            <a:r>
              <a:rPr kumimoji="1" lang="ja-JP" altLang="en-US" sz="2400" dirty="0"/>
              <a:t>一方で</a:t>
            </a:r>
            <a:r>
              <a:rPr kumimoji="1" lang="en-US" altLang="ja-JP" sz="2400" dirty="0"/>
              <a:t>…</a:t>
            </a:r>
          </a:p>
          <a:p>
            <a:r>
              <a:rPr kumimoji="1" lang="ja-JP" altLang="en-US" sz="2400" dirty="0"/>
              <a:t>制作に時間がかかる</a:t>
            </a:r>
            <a:endParaRPr kumimoji="1" lang="en-US" altLang="ja-JP" sz="2400" dirty="0"/>
          </a:p>
          <a:p>
            <a:r>
              <a:rPr kumimoji="1" lang="ja-JP" altLang="en-US" sz="2400" dirty="0"/>
              <a:t>工数が多い</a:t>
            </a:r>
          </a:p>
        </p:txBody>
      </p:sp>
      <p:sp>
        <p:nvSpPr>
          <p:cNvPr id="8" name="スライド番号プレースホルダー 7">
            <a:extLst>
              <a:ext uri="{FF2B5EF4-FFF2-40B4-BE49-F238E27FC236}">
                <a16:creationId xmlns:a16="http://schemas.microsoft.com/office/drawing/2014/main" id="{4F7E97FA-4561-46CF-5703-6B139F5FC82C}"/>
              </a:ext>
            </a:extLst>
          </p:cNvPr>
          <p:cNvSpPr>
            <a:spLocks noGrp="1"/>
          </p:cNvSpPr>
          <p:nvPr>
            <p:ph type="sldNum" sz="quarter" idx="12"/>
          </p:nvPr>
        </p:nvSpPr>
        <p:spPr/>
        <p:txBody>
          <a:bodyPr/>
          <a:lstStyle/>
          <a:p>
            <a:fld id="{29A669C4-3E33-40D5-9129-B2BA8A5F5F4A}" type="slidenum">
              <a:rPr kumimoji="1" lang="ja-JP" altLang="en-US" smtClean="0"/>
              <a:t>2</a:t>
            </a:fld>
            <a:endParaRPr kumimoji="1" lang="ja-JP" altLang="en-US"/>
          </a:p>
        </p:txBody>
      </p:sp>
      <p:pic>
        <p:nvPicPr>
          <p:cNvPr id="9" name="Video Project 3">
            <a:hlinkClick r:id="" action="ppaction://media"/>
            <a:extLst>
              <a:ext uri="{FF2B5EF4-FFF2-40B4-BE49-F238E27FC236}">
                <a16:creationId xmlns:a16="http://schemas.microsoft.com/office/drawing/2014/main" id="{6FA97C80-7545-5664-88A6-30383D1F2FBE}"/>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6310265" y="845287"/>
            <a:ext cx="5578765" cy="3138055"/>
          </a:xfrm>
          <a:prstGeom prst="rect">
            <a:avLst/>
          </a:prstGeom>
        </p:spPr>
      </p:pic>
      <p:pic>
        <p:nvPicPr>
          <p:cNvPr id="12" name="Video Project 4">
            <a:hlinkClick r:id="" action="ppaction://media"/>
            <a:extLst>
              <a:ext uri="{FF2B5EF4-FFF2-40B4-BE49-F238E27FC236}">
                <a16:creationId xmlns:a16="http://schemas.microsoft.com/office/drawing/2014/main" id="{07CF982E-130F-BBEF-1ED2-CEB6623338FB}"/>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302970" y="830997"/>
            <a:ext cx="5578764" cy="3138055"/>
          </a:xfrm>
          <a:prstGeom prst="rect">
            <a:avLst/>
          </a:prstGeom>
        </p:spPr>
      </p:pic>
    </p:spTree>
    <p:extLst>
      <p:ext uri="{BB962C8B-B14F-4D97-AF65-F5344CB8AC3E}">
        <p14:creationId xmlns:p14="http://schemas.microsoft.com/office/powerpoint/2010/main" val="201197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803" fill="hold"/>
                                        <p:tgtEl>
                                          <p:spTgt spid="9"/>
                                        </p:tgtEl>
                                      </p:cBhvr>
                                    </p:cmd>
                                  </p:childTnLst>
                                </p:cTn>
                              </p:par>
                              <p:par>
                                <p:cTn id="7" presetID="1" presetClass="mediacall" presetSubtype="0" fill="hold" nodeType="withEffect">
                                  <p:stCondLst>
                                    <p:cond delay="0"/>
                                  </p:stCondLst>
                                  <p:childTnLst>
                                    <p:cmd type="call" cmd="playFrom(0.0)">
                                      <p:cBhvr>
                                        <p:cTn id="8" dur="280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repeatCount="indefinite" fill="remove" display="0">
                  <p:stCondLst>
                    <p:cond delay="indefinite"/>
                  </p:stCondLst>
                </p:cTn>
                <p:tgtEl>
                  <p:spTgt spid="9"/>
                </p:tgtEl>
              </p:cMediaNode>
            </p:video>
            <p:seq concurrent="1" nextAc="seek">
              <p:cTn id="10" restart="whenNotActive" fill="hold" evtFilter="cancelBubble" nodeType="interactiveSeq">
                <p:stCondLst>
                  <p:cond evt="onClick" delay="0">
                    <p:tgtEl>
                      <p:spTgt spid="9"/>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9"/>
                                        </p:tgtEl>
                                      </p:cBhvr>
                                    </p:cmd>
                                  </p:childTnLst>
                                </p:cTn>
                              </p:par>
                            </p:childTnLst>
                          </p:cTn>
                        </p:par>
                      </p:childTnLst>
                    </p:cTn>
                  </p:par>
                </p:childTnLst>
              </p:cTn>
              <p:nextCondLst>
                <p:cond evt="onClick" delay="0">
                  <p:tgtEl>
                    <p:spTgt spid="9"/>
                  </p:tgtEl>
                </p:cond>
              </p:nextCondLst>
            </p:seq>
            <p:video>
              <p:cMediaNode vol="80000">
                <p:cTn id="15" repeatCount="indefinite" fill="remove" display="0">
                  <p:stCondLst>
                    <p:cond delay="indefinite"/>
                  </p:stCondLst>
                </p:cTn>
                <p:tgtEl>
                  <p:spTgt spid="12"/>
                </p:tgtEl>
              </p:cMediaNode>
            </p:video>
            <p:seq concurrent="1" nextAc="seek">
              <p:cTn id="16" restart="whenNotActive" fill="hold" evtFilter="cancelBubble" nodeType="interactiveSeq">
                <p:stCondLst>
                  <p:cond evt="onClick" delay="0">
                    <p:tgtEl>
                      <p:spTgt spid="12"/>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withEffect">
                                  <p:stCondLst>
                                    <p:cond delay="0"/>
                                  </p:stCondLst>
                                  <p:childTnLst>
                                    <p:cmd type="call" cmd="togglePause">
                                      <p:cBhvr>
                                        <p:cTn id="20"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E9DAD27-EC7C-F9EB-B4F5-B6D83EE9A1F7}"/>
              </a:ext>
            </a:extLst>
          </p:cNvPr>
          <p:cNvSpPr txBox="1"/>
          <p:nvPr/>
        </p:nvSpPr>
        <p:spPr>
          <a:xfrm>
            <a:off x="0" y="0"/>
            <a:ext cx="1415772" cy="830997"/>
          </a:xfrm>
          <a:prstGeom prst="rect">
            <a:avLst/>
          </a:prstGeom>
          <a:noFill/>
        </p:spPr>
        <p:txBody>
          <a:bodyPr wrap="none" rtlCol="0">
            <a:spAutoFit/>
          </a:bodyPr>
          <a:lstStyle/>
          <a:p>
            <a:r>
              <a:rPr kumimoji="1" lang="ja-JP" altLang="en-US" sz="4800" dirty="0"/>
              <a:t>目的</a:t>
            </a:r>
          </a:p>
        </p:txBody>
      </p:sp>
      <p:sp>
        <p:nvSpPr>
          <p:cNvPr id="2" name="スライド番号プレースホルダー 1">
            <a:extLst>
              <a:ext uri="{FF2B5EF4-FFF2-40B4-BE49-F238E27FC236}">
                <a16:creationId xmlns:a16="http://schemas.microsoft.com/office/drawing/2014/main" id="{849F227B-22A3-5B28-9F04-D9B34F765EEE}"/>
              </a:ext>
            </a:extLst>
          </p:cNvPr>
          <p:cNvSpPr>
            <a:spLocks noGrp="1"/>
          </p:cNvSpPr>
          <p:nvPr>
            <p:ph type="sldNum" sz="quarter" idx="12"/>
          </p:nvPr>
        </p:nvSpPr>
        <p:spPr/>
        <p:txBody>
          <a:bodyPr/>
          <a:lstStyle/>
          <a:p>
            <a:fld id="{29A669C4-3E33-40D5-9129-B2BA8A5F5F4A}" type="slidenum">
              <a:rPr kumimoji="1" lang="ja-JP" altLang="en-US" smtClean="0"/>
              <a:t>3</a:t>
            </a:fld>
            <a:endParaRPr kumimoji="1" lang="ja-JP" altLang="en-US"/>
          </a:p>
        </p:txBody>
      </p:sp>
      <p:sp>
        <p:nvSpPr>
          <p:cNvPr id="3" name="テキスト ボックス 2">
            <a:extLst>
              <a:ext uri="{FF2B5EF4-FFF2-40B4-BE49-F238E27FC236}">
                <a16:creationId xmlns:a16="http://schemas.microsoft.com/office/drawing/2014/main" id="{9613FED3-DB7E-AC22-7E16-00D5D4752131}"/>
              </a:ext>
            </a:extLst>
          </p:cNvPr>
          <p:cNvSpPr txBox="1"/>
          <p:nvPr/>
        </p:nvSpPr>
        <p:spPr>
          <a:xfrm flipH="1">
            <a:off x="95183" y="830997"/>
            <a:ext cx="10861964" cy="1384995"/>
          </a:xfrm>
          <a:prstGeom prst="rect">
            <a:avLst/>
          </a:prstGeom>
          <a:noFill/>
        </p:spPr>
        <p:txBody>
          <a:bodyPr wrap="square" rtlCol="0">
            <a:spAutoFit/>
          </a:bodyPr>
          <a:lstStyle/>
          <a:p>
            <a:r>
              <a:rPr kumimoji="1" lang="ja-JP" altLang="en-US" sz="2800" dirty="0"/>
              <a:t>実写画像から直接，セル画調の背景画像を作りたい</a:t>
            </a:r>
            <a:endParaRPr kumimoji="1" lang="en-US" altLang="ja-JP" sz="2800" dirty="0"/>
          </a:p>
          <a:p>
            <a:pPr marL="342900" indent="-342900">
              <a:buFont typeface="Arial" panose="020B0604020202020204" pitchFamily="34" charset="0"/>
              <a:buChar char="•"/>
            </a:pPr>
            <a:r>
              <a:rPr kumimoji="1" lang="ja-JP" altLang="en-US" sz="2800" dirty="0"/>
              <a:t>物体を大きくとらえて抽象化したい</a:t>
            </a:r>
            <a:endParaRPr kumimoji="1" lang="en-US" altLang="ja-JP" sz="2800" dirty="0"/>
          </a:p>
          <a:p>
            <a:pPr marL="342900" indent="-342900">
              <a:buFont typeface="Arial" panose="020B0604020202020204" pitchFamily="34" charset="0"/>
              <a:buChar char="•"/>
            </a:pPr>
            <a:r>
              <a:rPr kumimoji="1" lang="ja-JP" altLang="en-US" sz="2800" dirty="0"/>
              <a:t>「ベタ塗」のような色使いや表現が欲しい</a:t>
            </a:r>
            <a:endParaRPr kumimoji="1" lang="en-US" altLang="ja-JP" sz="2800" dirty="0"/>
          </a:p>
        </p:txBody>
      </p:sp>
      <p:pic>
        <p:nvPicPr>
          <p:cNvPr id="19" name="図 18">
            <a:extLst>
              <a:ext uri="{FF2B5EF4-FFF2-40B4-BE49-F238E27FC236}">
                <a16:creationId xmlns:a16="http://schemas.microsoft.com/office/drawing/2014/main" id="{AF33E2FB-0976-9EC7-2675-90405FCD11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792" y="2430318"/>
            <a:ext cx="3429000" cy="3429000"/>
          </a:xfrm>
          <a:prstGeom prst="rect">
            <a:avLst/>
          </a:prstGeom>
        </p:spPr>
      </p:pic>
      <p:sp>
        <p:nvSpPr>
          <p:cNvPr id="22" name="テキスト ボックス 21">
            <a:extLst>
              <a:ext uri="{FF2B5EF4-FFF2-40B4-BE49-F238E27FC236}">
                <a16:creationId xmlns:a16="http://schemas.microsoft.com/office/drawing/2014/main" id="{B4C751D5-8436-8F0E-81C2-DC94344A4C50}"/>
              </a:ext>
            </a:extLst>
          </p:cNvPr>
          <p:cNvSpPr txBox="1"/>
          <p:nvPr/>
        </p:nvSpPr>
        <p:spPr>
          <a:xfrm>
            <a:off x="1490204" y="5859318"/>
            <a:ext cx="2698175" cy="523220"/>
          </a:xfrm>
          <a:prstGeom prst="rect">
            <a:avLst/>
          </a:prstGeom>
          <a:noFill/>
        </p:spPr>
        <p:txBody>
          <a:bodyPr wrap="none" rtlCol="0">
            <a:spAutoFit/>
          </a:bodyPr>
          <a:lstStyle/>
          <a:p>
            <a:r>
              <a:rPr kumimoji="1" lang="ja-JP" altLang="en-US" sz="2800" dirty="0"/>
              <a:t>実写の自然画像</a:t>
            </a:r>
          </a:p>
        </p:txBody>
      </p:sp>
      <p:sp>
        <p:nvSpPr>
          <p:cNvPr id="24" name="テキスト ボックス 23">
            <a:extLst>
              <a:ext uri="{FF2B5EF4-FFF2-40B4-BE49-F238E27FC236}">
                <a16:creationId xmlns:a16="http://schemas.microsoft.com/office/drawing/2014/main" id="{21C223F4-2DAA-C9A7-87C9-86F380B7DF37}"/>
              </a:ext>
            </a:extLst>
          </p:cNvPr>
          <p:cNvSpPr txBox="1"/>
          <p:nvPr/>
        </p:nvSpPr>
        <p:spPr>
          <a:xfrm>
            <a:off x="8198387" y="5859318"/>
            <a:ext cx="2308645" cy="523220"/>
          </a:xfrm>
          <a:prstGeom prst="rect">
            <a:avLst/>
          </a:prstGeom>
          <a:noFill/>
        </p:spPr>
        <p:txBody>
          <a:bodyPr wrap="none" rtlCol="0">
            <a:spAutoFit/>
          </a:bodyPr>
          <a:lstStyle/>
          <a:p>
            <a:pPr lvl="0" defTabSz="914400">
              <a:defRPr/>
            </a:pPr>
            <a:r>
              <a:rPr kumimoji="1" lang="ja-JP" altLang="en-US" sz="2800" dirty="0"/>
              <a:t>セル画調画像</a:t>
            </a:r>
            <a:endParaRPr kumimoji="1" lang="en-US" altLang="ja-JP" sz="2800" dirty="0"/>
          </a:p>
        </p:txBody>
      </p:sp>
      <p:sp>
        <p:nvSpPr>
          <p:cNvPr id="25" name="矢印: 右 24">
            <a:extLst>
              <a:ext uri="{FF2B5EF4-FFF2-40B4-BE49-F238E27FC236}">
                <a16:creationId xmlns:a16="http://schemas.microsoft.com/office/drawing/2014/main" id="{D91C4D21-D9D2-266A-2E67-9F3F6CC5A068}"/>
              </a:ext>
            </a:extLst>
          </p:cNvPr>
          <p:cNvSpPr/>
          <p:nvPr/>
        </p:nvSpPr>
        <p:spPr>
          <a:xfrm>
            <a:off x="4710546" y="4144818"/>
            <a:ext cx="2770909"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63852894-B66F-24B2-59CA-6570508F412A}"/>
              </a:ext>
            </a:extLst>
          </p:cNvPr>
          <p:cNvSpPr txBox="1"/>
          <p:nvPr/>
        </p:nvSpPr>
        <p:spPr>
          <a:xfrm>
            <a:off x="5465057" y="2835564"/>
            <a:ext cx="1261884" cy="1384995"/>
          </a:xfrm>
          <a:prstGeom prst="rect">
            <a:avLst/>
          </a:prstGeom>
          <a:noFill/>
        </p:spPr>
        <p:txBody>
          <a:bodyPr wrap="none" rtlCol="0">
            <a:spAutoFit/>
          </a:bodyPr>
          <a:lstStyle/>
          <a:p>
            <a:r>
              <a:rPr kumimoji="1" lang="ja-JP" altLang="en-US" sz="2800" dirty="0"/>
              <a:t>抽象化</a:t>
            </a:r>
            <a:endParaRPr kumimoji="1" lang="en-US" altLang="ja-JP" sz="2800" dirty="0"/>
          </a:p>
          <a:p>
            <a:r>
              <a:rPr kumimoji="1" lang="ja-JP" altLang="en-US" sz="2800" dirty="0"/>
              <a:t>ベタ塗</a:t>
            </a:r>
            <a:endParaRPr kumimoji="1" lang="en-US" altLang="ja-JP" sz="2800" dirty="0"/>
          </a:p>
          <a:p>
            <a:r>
              <a:rPr kumimoji="1" lang="ja-JP" altLang="en-US" sz="2800" dirty="0"/>
              <a:t>輪郭線</a:t>
            </a:r>
            <a:endParaRPr kumimoji="1" lang="en-US" altLang="ja-JP" sz="2800" dirty="0"/>
          </a:p>
        </p:txBody>
      </p:sp>
      <p:pic>
        <p:nvPicPr>
          <p:cNvPr id="7" name="図 6">
            <a:extLst>
              <a:ext uri="{FF2B5EF4-FFF2-40B4-BE49-F238E27FC236}">
                <a16:creationId xmlns:a16="http://schemas.microsoft.com/office/drawing/2014/main" id="{0D05D71E-740B-48D1-E694-4E8CA47202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8210" y="2430318"/>
            <a:ext cx="3429000" cy="3429000"/>
          </a:xfrm>
          <a:prstGeom prst="rect">
            <a:avLst/>
          </a:prstGeom>
        </p:spPr>
      </p:pic>
    </p:spTree>
    <p:extLst>
      <p:ext uri="{BB962C8B-B14F-4D97-AF65-F5344CB8AC3E}">
        <p14:creationId xmlns:p14="http://schemas.microsoft.com/office/powerpoint/2010/main" val="3593078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四角形: 角を丸くする 22">
            <a:extLst>
              <a:ext uri="{FF2B5EF4-FFF2-40B4-BE49-F238E27FC236}">
                <a16:creationId xmlns:a16="http://schemas.microsoft.com/office/drawing/2014/main" id="{00D6A836-1173-EF4F-F86B-89C926E943C7}"/>
              </a:ext>
            </a:extLst>
          </p:cNvPr>
          <p:cNvSpPr/>
          <p:nvPr/>
        </p:nvSpPr>
        <p:spPr>
          <a:xfrm>
            <a:off x="0" y="752571"/>
            <a:ext cx="6096000" cy="5707213"/>
          </a:xfrm>
          <a:prstGeom prst="roundRect">
            <a:avLst>
              <a:gd name="adj" fmla="val 2587"/>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四角形: 角を丸くする 24">
            <a:extLst>
              <a:ext uri="{FF2B5EF4-FFF2-40B4-BE49-F238E27FC236}">
                <a16:creationId xmlns:a16="http://schemas.microsoft.com/office/drawing/2014/main" id="{BA6AEF8F-E028-E571-636D-3678DABC2CAB}"/>
              </a:ext>
            </a:extLst>
          </p:cNvPr>
          <p:cNvSpPr/>
          <p:nvPr/>
        </p:nvSpPr>
        <p:spPr>
          <a:xfrm>
            <a:off x="6096000" y="752570"/>
            <a:ext cx="6096000" cy="5707213"/>
          </a:xfrm>
          <a:prstGeom prst="roundRect">
            <a:avLst>
              <a:gd name="adj" fmla="val 2587"/>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テキスト ボックス 1">
            <a:extLst>
              <a:ext uri="{FF2B5EF4-FFF2-40B4-BE49-F238E27FC236}">
                <a16:creationId xmlns:a16="http://schemas.microsoft.com/office/drawing/2014/main" id="{0FBACD32-E4F7-CBDE-862D-22D5DDFA3432}"/>
              </a:ext>
            </a:extLst>
          </p:cNvPr>
          <p:cNvSpPr txBox="1"/>
          <p:nvPr/>
        </p:nvSpPr>
        <p:spPr>
          <a:xfrm>
            <a:off x="0" y="0"/>
            <a:ext cx="1415772" cy="830997"/>
          </a:xfrm>
          <a:prstGeom prst="rect">
            <a:avLst/>
          </a:prstGeom>
          <a:noFill/>
        </p:spPr>
        <p:txBody>
          <a:bodyPr wrap="none" rtlCol="0">
            <a:spAutoFit/>
          </a:bodyPr>
          <a:lstStyle/>
          <a:p>
            <a:r>
              <a:rPr kumimoji="1" lang="ja-JP" altLang="en-US" sz="4800" dirty="0"/>
              <a:t>課題</a:t>
            </a:r>
          </a:p>
        </p:txBody>
      </p:sp>
      <p:sp>
        <p:nvSpPr>
          <p:cNvPr id="3" name="スライド番号プレースホルダー 2">
            <a:extLst>
              <a:ext uri="{FF2B5EF4-FFF2-40B4-BE49-F238E27FC236}">
                <a16:creationId xmlns:a16="http://schemas.microsoft.com/office/drawing/2014/main" id="{FF905D12-9F43-65A2-2F97-AB68AF3FC509}"/>
              </a:ext>
            </a:extLst>
          </p:cNvPr>
          <p:cNvSpPr>
            <a:spLocks noGrp="1"/>
          </p:cNvSpPr>
          <p:nvPr>
            <p:ph type="sldNum" sz="quarter" idx="12"/>
          </p:nvPr>
        </p:nvSpPr>
        <p:spPr/>
        <p:txBody>
          <a:bodyPr/>
          <a:lstStyle/>
          <a:p>
            <a:fld id="{29A669C4-3E33-40D5-9129-B2BA8A5F5F4A}" type="slidenum">
              <a:rPr kumimoji="1" lang="ja-JP" altLang="en-US" smtClean="0"/>
              <a:t>4</a:t>
            </a:fld>
            <a:endParaRPr kumimoji="1" lang="ja-JP" altLang="en-US"/>
          </a:p>
        </p:txBody>
      </p:sp>
      <p:sp>
        <p:nvSpPr>
          <p:cNvPr id="4" name="テキスト ボックス 3">
            <a:extLst>
              <a:ext uri="{FF2B5EF4-FFF2-40B4-BE49-F238E27FC236}">
                <a16:creationId xmlns:a16="http://schemas.microsoft.com/office/drawing/2014/main" id="{25DD34A9-9099-5D16-333F-4F34FFF25E13}"/>
              </a:ext>
            </a:extLst>
          </p:cNvPr>
          <p:cNvSpPr txBox="1"/>
          <p:nvPr/>
        </p:nvSpPr>
        <p:spPr>
          <a:xfrm>
            <a:off x="1002814" y="711050"/>
            <a:ext cx="4007828" cy="830997"/>
          </a:xfrm>
          <a:prstGeom prst="rect">
            <a:avLst/>
          </a:prstGeom>
          <a:noFill/>
        </p:spPr>
        <p:txBody>
          <a:bodyPr wrap="none" rtlCol="0">
            <a:spAutoFit/>
          </a:bodyPr>
          <a:lstStyle/>
          <a:p>
            <a:r>
              <a:rPr kumimoji="1" lang="en-US" altLang="ja-JP" sz="2400" dirty="0"/>
              <a:t>1.</a:t>
            </a:r>
            <a:r>
              <a:rPr kumimoji="1" lang="ja-JP" altLang="en-US" sz="2400" dirty="0"/>
              <a:t>　抽象化（領域分割）の方法</a:t>
            </a:r>
          </a:p>
          <a:p>
            <a:endParaRPr kumimoji="1" lang="ja-JP" altLang="en-US" sz="2400" dirty="0"/>
          </a:p>
        </p:txBody>
      </p:sp>
      <p:sp>
        <p:nvSpPr>
          <p:cNvPr id="6" name="テキスト ボックス 5">
            <a:extLst>
              <a:ext uri="{FF2B5EF4-FFF2-40B4-BE49-F238E27FC236}">
                <a16:creationId xmlns:a16="http://schemas.microsoft.com/office/drawing/2014/main" id="{8C0C4BC1-A656-D122-40B0-685338B26B37}"/>
              </a:ext>
            </a:extLst>
          </p:cNvPr>
          <p:cNvSpPr txBox="1"/>
          <p:nvPr/>
        </p:nvSpPr>
        <p:spPr>
          <a:xfrm>
            <a:off x="6802654" y="752568"/>
            <a:ext cx="4682692" cy="461665"/>
          </a:xfrm>
          <a:prstGeom prst="rect">
            <a:avLst/>
          </a:prstGeom>
          <a:noFill/>
        </p:spPr>
        <p:txBody>
          <a:bodyPr wrap="none" rtlCol="0">
            <a:spAutoFit/>
          </a:bodyPr>
          <a:lstStyle/>
          <a:p>
            <a:r>
              <a:rPr kumimoji="1" lang="en-US" altLang="ja-JP" sz="2400" dirty="0"/>
              <a:t>2.</a:t>
            </a:r>
            <a:r>
              <a:rPr kumimoji="1" lang="ja-JP" altLang="en-US" sz="2400" dirty="0"/>
              <a:t>　「セル画調」をどう再現するのか</a:t>
            </a:r>
          </a:p>
        </p:txBody>
      </p:sp>
      <p:grpSp>
        <p:nvGrpSpPr>
          <p:cNvPr id="22" name="グループ化 21">
            <a:extLst>
              <a:ext uri="{FF2B5EF4-FFF2-40B4-BE49-F238E27FC236}">
                <a16:creationId xmlns:a16="http://schemas.microsoft.com/office/drawing/2014/main" id="{680A1E71-F0D5-8EB3-3910-A942D36D5E95}"/>
              </a:ext>
            </a:extLst>
          </p:cNvPr>
          <p:cNvGrpSpPr/>
          <p:nvPr/>
        </p:nvGrpSpPr>
        <p:grpSpPr>
          <a:xfrm>
            <a:off x="983673" y="1214233"/>
            <a:ext cx="4128654" cy="4082473"/>
            <a:chOff x="350982" y="1667163"/>
            <a:chExt cx="4128654" cy="4082473"/>
          </a:xfrm>
        </p:grpSpPr>
        <p:pic>
          <p:nvPicPr>
            <p:cNvPr id="10" name="図 9">
              <a:extLst>
                <a:ext uri="{FF2B5EF4-FFF2-40B4-BE49-F238E27FC236}">
                  <a16:creationId xmlns:a16="http://schemas.microsoft.com/office/drawing/2014/main" id="{8FA4A325-3C1D-6563-5C21-E954704A2B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163" y="1667163"/>
              <a:ext cx="4082473" cy="4082473"/>
            </a:xfrm>
            <a:prstGeom prst="rect">
              <a:avLst/>
            </a:prstGeom>
          </p:spPr>
        </p:pic>
        <p:sp>
          <p:nvSpPr>
            <p:cNvPr id="12" name="円: 塗りつぶしなし 11">
              <a:extLst>
                <a:ext uri="{FF2B5EF4-FFF2-40B4-BE49-F238E27FC236}">
                  <a16:creationId xmlns:a16="http://schemas.microsoft.com/office/drawing/2014/main" id="{63ADCBCF-5A7F-1252-E252-BA5CDC3D73DE}"/>
                </a:ext>
              </a:extLst>
            </p:cNvPr>
            <p:cNvSpPr/>
            <p:nvPr/>
          </p:nvSpPr>
          <p:spPr>
            <a:xfrm>
              <a:off x="397163" y="2447636"/>
              <a:ext cx="3990110" cy="1366981"/>
            </a:xfrm>
            <a:prstGeom prst="donut">
              <a:avLst>
                <a:gd name="adj" fmla="val 8826"/>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円: 塗りつぶしなし 13">
              <a:extLst>
                <a:ext uri="{FF2B5EF4-FFF2-40B4-BE49-F238E27FC236}">
                  <a16:creationId xmlns:a16="http://schemas.microsoft.com/office/drawing/2014/main" id="{F8361CC9-4697-AAAB-3185-DE7A1BDB9F81}"/>
                </a:ext>
              </a:extLst>
            </p:cNvPr>
            <p:cNvSpPr/>
            <p:nvPr/>
          </p:nvSpPr>
          <p:spPr>
            <a:xfrm>
              <a:off x="443344" y="3814617"/>
              <a:ext cx="3990110" cy="1505527"/>
            </a:xfrm>
            <a:prstGeom prst="donut">
              <a:avLst>
                <a:gd name="adj" fmla="val 8826"/>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円: 塗りつぶしなし 15">
              <a:extLst>
                <a:ext uri="{FF2B5EF4-FFF2-40B4-BE49-F238E27FC236}">
                  <a16:creationId xmlns:a16="http://schemas.microsoft.com/office/drawing/2014/main" id="{043D3E45-C2C6-AA36-4727-16DB7DE97508}"/>
                </a:ext>
              </a:extLst>
            </p:cNvPr>
            <p:cNvSpPr/>
            <p:nvPr/>
          </p:nvSpPr>
          <p:spPr>
            <a:xfrm>
              <a:off x="350982" y="1667163"/>
              <a:ext cx="3990110" cy="780474"/>
            </a:xfrm>
            <a:prstGeom prst="donut">
              <a:avLst>
                <a:gd name="adj" fmla="val 8826"/>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テキスト ボックス 16">
              <a:extLst>
                <a:ext uri="{FF2B5EF4-FFF2-40B4-BE49-F238E27FC236}">
                  <a16:creationId xmlns:a16="http://schemas.microsoft.com/office/drawing/2014/main" id="{C3174C31-7957-13CB-2CD1-049107F86FD3}"/>
                </a:ext>
              </a:extLst>
            </p:cNvPr>
            <p:cNvSpPr txBox="1"/>
            <p:nvPr/>
          </p:nvSpPr>
          <p:spPr>
            <a:xfrm>
              <a:off x="2099815" y="1826492"/>
              <a:ext cx="492443" cy="461665"/>
            </a:xfrm>
            <a:prstGeom prst="rect">
              <a:avLst/>
            </a:prstGeom>
            <a:noFill/>
          </p:spPr>
          <p:txBody>
            <a:bodyPr wrap="none" rtlCol="0">
              <a:spAutoFit/>
            </a:bodyPr>
            <a:lstStyle/>
            <a:p>
              <a:r>
                <a:rPr kumimoji="1" lang="ja-JP" altLang="en-US" sz="2400" dirty="0">
                  <a:solidFill>
                    <a:schemeClr val="bg1"/>
                  </a:solidFill>
                </a:rPr>
                <a:t>空</a:t>
              </a:r>
            </a:p>
          </p:txBody>
        </p:sp>
        <p:sp>
          <p:nvSpPr>
            <p:cNvPr id="19" name="テキスト ボックス 18">
              <a:extLst>
                <a:ext uri="{FF2B5EF4-FFF2-40B4-BE49-F238E27FC236}">
                  <a16:creationId xmlns:a16="http://schemas.microsoft.com/office/drawing/2014/main" id="{4443F1F7-8AB2-4493-E28B-7CA294BA776C}"/>
                </a:ext>
              </a:extLst>
            </p:cNvPr>
            <p:cNvSpPr txBox="1"/>
            <p:nvPr/>
          </p:nvSpPr>
          <p:spPr>
            <a:xfrm>
              <a:off x="2099815" y="2900293"/>
              <a:ext cx="492443" cy="461665"/>
            </a:xfrm>
            <a:prstGeom prst="rect">
              <a:avLst/>
            </a:prstGeom>
            <a:noFill/>
          </p:spPr>
          <p:txBody>
            <a:bodyPr wrap="none" rtlCol="0">
              <a:spAutoFit/>
            </a:bodyPr>
            <a:lstStyle/>
            <a:p>
              <a:r>
                <a:rPr kumimoji="1" lang="ja-JP" altLang="en-US" sz="2400" dirty="0"/>
                <a:t>山</a:t>
              </a:r>
            </a:p>
          </p:txBody>
        </p:sp>
        <p:sp>
          <p:nvSpPr>
            <p:cNvPr id="21" name="テキスト ボックス 20">
              <a:extLst>
                <a:ext uri="{FF2B5EF4-FFF2-40B4-BE49-F238E27FC236}">
                  <a16:creationId xmlns:a16="http://schemas.microsoft.com/office/drawing/2014/main" id="{200EDCA2-E2C2-038F-C866-C5B0425C2DA8}"/>
                </a:ext>
              </a:extLst>
            </p:cNvPr>
            <p:cNvSpPr txBox="1"/>
            <p:nvPr/>
          </p:nvSpPr>
          <p:spPr>
            <a:xfrm>
              <a:off x="2481420" y="4435611"/>
              <a:ext cx="492443" cy="461665"/>
            </a:xfrm>
            <a:prstGeom prst="rect">
              <a:avLst/>
            </a:prstGeom>
            <a:noFill/>
          </p:spPr>
          <p:txBody>
            <a:bodyPr wrap="none" rtlCol="0">
              <a:spAutoFit/>
            </a:bodyPr>
            <a:lstStyle/>
            <a:p>
              <a:r>
                <a:rPr kumimoji="1" lang="ja-JP" altLang="en-US" sz="2400" dirty="0">
                  <a:solidFill>
                    <a:schemeClr val="bg1"/>
                  </a:solidFill>
                </a:rPr>
                <a:t>森</a:t>
              </a:r>
            </a:p>
          </p:txBody>
        </p:sp>
      </p:grpSp>
      <p:sp>
        <p:nvSpPr>
          <p:cNvPr id="26" name="テキスト ボックス 25">
            <a:extLst>
              <a:ext uri="{FF2B5EF4-FFF2-40B4-BE49-F238E27FC236}">
                <a16:creationId xmlns:a16="http://schemas.microsoft.com/office/drawing/2014/main" id="{3E93881A-4EE6-871B-30FF-B04E594F9847}"/>
              </a:ext>
            </a:extLst>
          </p:cNvPr>
          <p:cNvSpPr txBox="1"/>
          <p:nvPr/>
        </p:nvSpPr>
        <p:spPr>
          <a:xfrm>
            <a:off x="0" y="5331148"/>
            <a:ext cx="4305987" cy="461665"/>
          </a:xfrm>
          <a:prstGeom prst="rect">
            <a:avLst/>
          </a:prstGeom>
          <a:noFill/>
        </p:spPr>
        <p:txBody>
          <a:bodyPr wrap="none" rtlCol="0">
            <a:spAutoFit/>
          </a:bodyPr>
          <a:lstStyle/>
          <a:p>
            <a:r>
              <a:rPr kumimoji="1" lang="ja-JP" altLang="en-US" sz="2400" dirty="0"/>
              <a:t>画像を被写体で領域分割したい</a:t>
            </a:r>
            <a:endParaRPr kumimoji="1" lang="en-US" altLang="ja-JP" sz="2400" dirty="0"/>
          </a:p>
        </p:txBody>
      </p:sp>
      <p:pic>
        <p:nvPicPr>
          <p:cNvPr id="28" name="図 27">
            <a:extLst>
              <a:ext uri="{FF2B5EF4-FFF2-40B4-BE49-F238E27FC236}">
                <a16:creationId xmlns:a16="http://schemas.microsoft.com/office/drawing/2014/main" id="{2DC1B47F-27E6-4854-BF59-2F8B983B52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3032" y="1156973"/>
            <a:ext cx="5841935" cy="3287373"/>
          </a:xfrm>
          <a:prstGeom prst="rect">
            <a:avLst/>
          </a:prstGeom>
        </p:spPr>
      </p:pic>
      <p:sp>
        <p:nvSpPr>
          <p:cNvPr id="29" name="テキスト ボックス 28">
            <a:extLst>
              <a:ext uri="{FF2B5EF4-FFF2-40B4-BE49-F238E27FC236}">
                <a16:creationId xmlns:a16="http://schemas.microsoft.com/office/drawing/2014/main" id="{93CABB52-0950-70FF-35D2-D357B7FC0761}"/>
              </a:ext>
            </a:extLst>
          </p:cNvPr>
          <p:cNvSpPr txBox="1"/>
          <p:nvPr/>
        </p:nvSpPr>
        <p:spPr>
          <a:xfrm>
            <a:off x="9343143" y="4472646"/>
            <a:ext cx="2848857" cy="707886"/>
          </a:xfrm>
          <a:prstGeom prst="rect">
            <a:avLst/>
          </a:prstGeom>
          <a:noFill/>
        </p:spPr>
        <p:txBody>
          <a:bodyPr wrap="none" rtlCol="0">
            <a:spAutoFit/>
          </a:bodyPr>
          <a:lstStyle/>
          <a:p>
            <a:r>
              <a:rPr kumimoji="1" lang="en-US" altLang="ja-JP" sz="2000" dirty="0">
                <a:latin typeface="+mj-ea"/>
                <a:ea typeface="+mj-ea"/>
              </a:rPr>
              <a:t>『</a:t>
            </a:r>
            <a:r>
              <a:rPr kumimoji="1" lang="ja-JP" altLang="en-US" sz="2000" dirty="0">
                <a:latin typeface="+mj-ea"/>
                <a:ea typeface="+mj-ea"/>
              </a:rPr>
              <a:t>紅の豚</a:t>
            </a:r>
            <a:r>
              <a:rPr kumimoji="1" lang="en-US" altLang="ja-JP" sz="2000" dirty="0">
                <a:latin typeface="+mj-ea"/>
                <a:ea typeface="+mj-ea"/>
              </a:rPr>
              <a:t>』</a:t>
            </a:r>
          </a:p>
          <a:p>
            <a:r>
              <a:rPr kumimoji="1" lang="en-US" altLang="ja-JP" sz="2000" dirty="0"/>
              <a:t>(C)1992 Studio Ghibli</a:t>
            </a:r>
            <a:r>
              <a:rPr kumimoji="1" lang="ja-JP" altLang="en-US" sz="2000" dirty="0"/>
              <a:t>・</a:t>
            </a:r>
            <a:r>
              <a:rPr kumimoji="1" lang="en-US" altLang="ja-JP" sz="2000" dirty="0"/>
              <a:t>NN</a:t>
            </a:r>
            <a:endParaRPr kumimoji="1" lang="ja-JP" altLang="en-US" sz="2000" dirty="0">
              <a:latin typeface="+mj-ea"/>
              <a:ea typeface="+mj-ea"/>
            </a:endParaRPr>
          </a:p>
        </p:txBody>
      </p:sp>
      <p:sp>
        <p:nvSpPr>
          <p:cNvPr id="30" name="テキスト ボックス 29">
            <a:extLst>
              <a:ext uri="{FF2B5EF4-FFF2-40B4-BE49-F238E27FC236}">
                <a16:creationId xmlns:a16="http://schemas.microsoft.com/office/drawing/2014/main" id="{885D5EBB-7343-B5D7-0B40-021F6444B0CD}"/>
              </a:ext>
            </a:extLst>
          </p:cNvPr>
          <p:cNvSpPr txBox="1"/>
          <p:nvPr/>
        </p:nvSpPr>
        <p:spPr>
          <a:xfrm>
            <a:off x="6096000" y="4520791"/>
            <a:ext cx="4624984" cy="1569660"/>
          </a:xfrm>
          <a:prstGeom prst="rect">
            <a:avLst/>
          </a:prstGeom>
          <a:noFill/>
        </p:spPr>
        <p:txBody>
          <a:bodyPr wrap="none" rtlCol="0">
            <a:spAutoFit/>
          </a:bodyPr>
          <a:lstStyle/>
          <a:p>
            <a:r>
              <a:rPr kumimoji="1" lang="ja-JP" altLang="en-US" sz="2400" dirty="0"/>
              <a:t>「セル画調」の特徴</a:t>
            </a:r>
            <a:endParaRPr kumimoji="1" lang="en-US" altLang="ja-JP" sz="2400" dirty="0"/>
          </a:p>
          <a:p>
            <a:r>
              <a:rPr kumimoji="1" lang="ja-JP" altLang="en-US" sz="2400" dirty="0"/>
              <a:t>・ ベタ塗</a:t>
            </a:r>
            <a:endParaRPr kumimoji="1" lang="en-US" altLang="ja-JP" sz="2400" dirty="0"/>
          </a:p>
          <a:p>
            <a:r>
              <a:rPr kumimoji="1" lang="ja-JP" altLang="en-US" sz="2400" dirty="0"/>
              <a:t>・ 輪郭線</a:t>
            </a:r>
            <a:endParaRPr kumimoji="1" lang="en-US" altLang="ja-JP" sz="2400" dirty="0"/>
          </a:p>
          <a:p>
            <a:r>
              <a:rPr kumimoji="1" lang="ja-JP" altLang="en-US" sz="2400" dirty="0"/>
              <a:t>　を満たす絵をどうやって作るのか</a:t>
            </a:r>
          </a:p>
        </p:txBody>
      </p:sp>
    </p:spTree>
    <p:extLst>
      <p:ext uri="{BB962C8B-B14F-4D97-AF65-F5344CB8AC3E}">
        <p14:creationId xmlns:p14="http://schemas.microsoft.com/office/powerpoint/2010/main" val="4181034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583C2-9A39-5DA2-047C-27547FCDC629}"/>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634F156-8711-805B-BE00-1E1D75F76EDB}"/>
              </a:ext>
            </a:extLst>
          </p:cNvPr>
          <p:cNvSpPr txBox="1"/>
          <p:nvPr/>
        </p:nvSpPr>
        <p:spPr>
          <a:xfrm>
            <a:off x="0" y="0"/>
            <a:ext cx="12404358" cy="1569660"/>
          </a:xfrm>
          <a:prstGeom prst="rect">
            <a:avLst/>
          </a:prstGeom>
          <a:noFill/>
        </p:spPr>
        <p:txBody>
          <a:bodyPr wrap="none" rtlCol="0">
            <a:spAutoFit/>
          </a:bodyPr>
          <a:lstStyle/>
          <a:p>
            <a:r>
              <a:rPr kumimoji="1" lang="en-US" altLang="ja-JP" sz="4800" dirty="0"/>
              <a:t>1.</a:t>
            </a:r>
            <a:r>
              <a:rPr kumimoji="1" lang="ja-JP" altLang="en-US" sz="4800" dirty="0"/>
              <a:t> 領域分割：画像セグメンテーションを利用する</a:t>
            </a:r>
          </a:p>
          <a:p>
            <a:endParaRPr kumimoji="1" lang="ja-JP" altLang="en-US" sz="4800" dirty="0"/>
          </a:p>
        </p:txBody>
      </p:sp>
      <p:sp>
        <p:nvSpPr>
          <p:cNvPr id="3" name="スライド番号プレースホルダー 2">
            <a:extLst>
              <a:ext uri="{FF2B5EF4-FFF2-40B4-BE49-F238E27FC236}">
                <a16:creationId xmlns:a16="http://schemas.microsoft.com/office/drawing/2014/main" id="{00C74E44-AD23-AFE3-5346-92AEE3A5C71C}"/>
              </a:ext>
            </a:extLst>
          </p:cNvPr>
          <p:cNvSpPr>
            <a:spLocks noGrp="1"/>
          </p:cNvSpPr>
          <p:nvPr>
            <p:ph type="sldNum" sz="quarter" idx="12"/>
          </p:nvPr>
        </p:nvSpPr>
        <p:spPr/>
        <p:txBody>
          <a:bodyPr/>
          <a:lstStyle/>
          <a:p>
            <a:fld id="{29A669C4-3E33-40D5-9129-B2BA8A5F5F4A}" type="slidenum">
              <a:rPr kumimoji="1" lang="ja-JP" altLang="en-US" smtClean="0"/>
              <a:t>5</a:t>
            </a:fld>
            <a:endParaRPr kumimoji="1" lang="ja-JP" altLang="en-US"/>
          </a:p>
        </p:txBody>
      </p:sp>
      <p:sp>
        <p:nvSpPr>
          <p:cNvPr id="6" name="テキスト ボックス 5">
            <a:extLst>
              <a:ext uri="{FF2B5EF4-FFF2-40B4-BE49-F238E27FC236}">
                <a16:creationId xmlns:a16="http://schemas.microsoft.com/office/drawing/2014/main" id="{ED190D43-9057-F2AA-2B62-351803C5D031}"/>
              </a:ext>
            </a:extLst>
          </p:cNvPr>
          <p:cNvSpPr txBox="1"/>
          <p:nvPr/>
        </p:nvSpPr>
        <p:spPr>
          <a:xfrm>
            <a:off x="1343205" y="4939849"/>
            <a:ext cx="2226892" cy="461665"/>
          </a:xfrm>
          <a:prstGeom prst="rect">
            <a:avLst/>
          </a:prstGeom>
          <a:noFill/>
        </p:spPr>
        <p:txBody>
          <a:bodyPr wrap="none" rtlCol="0">
            <a:spAutoFit/>
          </a:bodyPr>
          <a:lstStyle/>
          <a:p>
            <a:r>
              <a:rPr kumimoji="1" lang="ja-JP" altLang="en-US" sz="2400" dirty="0"/>
              <a:t>変換したい画像</a:t>
            </a:r>
          </a:p>
        </p:txBody>
      </p:sp>
      <p:pic>
        <p:nvPicPr>
          <p:cNvPr id="10" name="図 9">
            <a:extLst>
              <a:ext uri="{FF2B5EF4-FFF2-40B4-BE49-F238E27FC236}">
                <a16:creationId xmlns:a16="http://schemas.microsoft.com/office/drawing/2014/main" id="{9D8BB9C2-E15B-79F8-6175-775A596074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142" y="784830"/>
            <a:ext cx="4155019" cy="4155019"/>
          </a:xfrm>
          <a:prstGeom prst="rect">
            <a:avLst/>
          </a:prstGeom>
        </p:spPr>
      </p:pic>
      <p:sp>
        <p:nvSpPr>
          <p:cNvPr id="8" name="テキスト ボックス 7">
            <a:extLst>
              <a:ext uri="{FF2B5EF4-FFF2-40B4-BE49-F238E27FC236}">
                <a16:creationId xmlns:a16="http://schemas.microsoft.com/office/drawing/2014/main" id="{44FB1DFC-825F-AD5A-6CB5-593C5998D366}"/>
              </a:ext>
            </a:extLst>
          </p:cNvPr>
          <p:cNvSpPr txBox="1"/>
          <p:nvPr/>
        </p:nvSpPr>
        <p:spPr>
          <a:xfrm>
            <a:off x="8873573" y="4937617"/>
            <a:ext cx="1723549" cy="461665"/>
          </a:xfrm>
          <a:prstGeom prst="rect">
            <a:avLst/>
          </a:prstGeom>
          <a:noFill/>
        </p:spPr>
        <p:txBody>
          <a:bodyPr wrap="none" rtlCol="0">
            <a:spAutoFit/>
          </a:bodyPr>
          <a:lstStyle/>
          <a:p>
            <a:r>
              <a:rPr kumimoji="1" lang="ja-JP" altLang="en-US" sz="2400" dirty="0"/>
              <a:t>領域の分割</a:t>
            </a:r>
          </a:p>
        </p:txBody>
      </p:sp>
      <p:sp>
        <p:nvSpPr>
          <p:cNvPr id="25" name="四角形: 角を丸くする 24">
            <a:extLst>
              <a:ext uri="{FF2B5EF4-FFF2-40B4-BE49-F238E27FC236}">
                <a16:creationId xmlns:a16="http://schemas.microsoft.com/office/drawing/2014/main" id="{C2320DF9-C5AD-A2A9-27A5-60E3B0AE6103}"/>
              </a:ext>
            </a:extLst>
          </p:cNvPr>
          <p:cNvSpPr/>
          <p:nvPr/>
        </p:nvSpPr>
        <p:spPr>
          <a:xfrm>
            <a:off x="3940869" y="5343653"/>
            <a:ext cx="5794478" cy="1222077"/>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400" dirty="0">
                <a:solidFill>
                  <a:schemeClr val="tx1"/>
                </a:solidFill>
              </a:rPr>
              <a:t>今回は</a:t>
            </a:r>
            <a:r>
              <a:rPr kumimoji="1" lang="en-US" altLang="ja-JP" sz="2400" dirty="0">
                <a:solidFill>
                  <a:schemeClr val="tx1"/>
                </a:solidFill>
              </a:rPr>
              <a:t>『SAM2』</a:t>
            </a:r>
            <a:r>
              <a:rPr kumimoji="1" lang="ja-JP" altLang="en-US" sz="2400" dirty="0">
                <a:solidFill>
                  <a:schemeClr val="tx1"/>
                </a:solidFill>
              </a:rPr>
              <a:t>*を利用</a:t>
            </a:r>
            <a:endParaRPr kumimoji="1" lang="en-US" altLang="ja-JP" sz="2400" dirty="0">
              <a:solidFill>
                <a:schemeClr val="tx1"/>
              </a:solidFill>
            </a:endParaRPr>
          </a:p>
          <a:p>
            <a:r>
              <a:rPr kumimoji="1" lang="ja-JP" altLang="en-US" sz="2400" dirty="0">
                <a:solidFill>
                  <a:schemeClr val="tx1"/>
                </a:solidFill>
              </a:rPr>
              <a:t>うまく領域として認識できない部分は？</a:t>
            </a:r>
            <a:endParaRPr kumimoji="1" lang="en-US" altLang="ja-JP" sz="2400" dirty="0">
              <a:solidFill>
                <a:schemeClr val="tx1"/>
              </a:solidFill>
            </a:endParaRPr>
          </a:p>
          <a:p>
            <a:r>
              <a:rPr kumimoji="1" lang="ja-JP" altLang="en-US" sz="2400" dirty="0">
                <a:solidFill>
                  <a:schemeClr val="tx1"/>
                </a:solidFill>
              </a:rPr>
              <a:t>→「未定義領域」という</a:t>
            </a:r>
            <a:r>
              <a:rPr kumimoji="1" lang="en-US" altLang="ja-JP" sz="2400" dirty="0">
                <a:solidFill>
                  <a:schemeClr val="tx1"/>
                </a:solidFill>
              </a:rPr>
              <a:t>1</a:t>
            </a:r>
            <a:r>
              <a:rPr kumimoji="1" lang="ja-JP" altLang="en-US" sz="2400" dirty="0">
                <a:solidFill>
                  <a:schemeClr val="tx1"/>
                </a:solidFill>
              </a:rPr>
              <a:t>つの領域として扱う</a:t>
            </a:r>
          </a:p>
        </p:txBody>
      </p:sp>
      <p:pic>
        <p:nvPicPr>
          <p:cNvPr id="13" name="図 12">
            <a:extLst>
              <a:ext uri="{FF2B5EF4-FFF2-40B4-BE49-F238E27FC236}">
                <a16:creationId xmlns:a16="http://schemas.microsoft.com/office/drawing/2014/main" id="{2DFB8767-FE59-C396-886B-8EC3C106EB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57839" y="782131"/>
            <a:ext cx="4155019" cy="4157718"/>
          </a:xfrm>
          <a:prstGeom prst="rect">
            <a:avLst/>
          </a:prstGeom>
        </p:spPr>
      </p:pic>
      <p:sp>
        <p:nvSpPr>
          <p:cNvPr id="9" name="矢印: 右 8">
            <a:extLst>
              <a:ext uri="{FF2B5EF4-FFF2-40B4-BE49-F238E27FC236}">
                <a16:creationId xmlns:a16="http://schemas.microsoft.com/office/drawing/2014/main" id="{BB733108-A25B-A3F8-50DE-39084E85B400}"/>
              </a:ext>
            </a:extLst>
          </p:cNvPr>
          <p:cNvSpPr/>
          <p:nvPr/>
        </p:nvSpPr>
        <p:spPr>
          <a:xfrm>
            <a:off x="4759908" y="2599380"/>
            <a:ext cx="2596218" cy="5232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E6E2B3F0-2779-5657-E588-CF7558518A8B}"/>
              </a:ext>
            </a:extLst>
          </p:cNvPr>
          <p:cNvSpPr txBox="1"/>
          <p:nvPr/>
        </p:nvSpPr>
        <p:spPr>
          <a:xfrm>
            <a:off x="4512874" y="2120958"/>
            <a:ext cx="3166251" cy="461665"/>
          </a:xfrm>
          <a:prstGeom prst="rect">
            <a:avLst/>
          </a:prstGeom>
          <a:noFill/>
        </p:spPr>
        <p:txBody>
          <a:bodyPr wrap="none" rtlCol="0">
            <a:spAutoFit/>
          </a:bodyPr>
          <a:lstStyle/>
          <a:p>
            <a:r>
              <a:rPr kumimoji="1" lang="ja-JP" altLang="en-US" sz="2400" dirty="0"/>
              <a:t>画像セグメンテーション</a:t>
            </a:r>
          </a:p>
        </p:txBody>
      </p:sp>
      <p:sp>
        <p:nvSpPr>
          <p:cNvPr id="19" name="テキスト ボックス 18">
            <a:extLst>
              <a:ext uri="{FF2B5EF4-FFF2-40B4-BE49-F238E27FC236}">
                <a16:creationId xmlns:a16="http://schemas.microsoft.com/office/drawing/2014/main" id="{82D21685-7EF2-F262-199A-48CDB35C407E}"/>
              </a:ext>
            </a:extLst>
          </p:cNvPr>
          <p:cNvSpPr txBox="1"/>
          <p:nvPr/>
        </p:nvSpPr>
        <p:spPr>
          <a:xfrm>
            <a:off x="5088039" y="3104905"/>
            <a:ext cx="1939955" cy="461665"/>
          </a:xfrm>
          <a:prstGeom prst="rect">
            <a:avLst/>
          </a:prstGeom>
          <a:noFill/>
        </p:spPr>
        <p:txBody>
          <a:bodyPr wrap="none" rtlCol="0">
            <a:spAutoFit/>
          </a:bodyPr>
          <a:lstStyle/>
          <a:p>
            <a:r>
              <a:rPr kumimoji="1" lang="ja-JP" altLang="en-US" sz="2400" dirty="0"/>
              <a:t>を用いて分割</a:t>
            </a:r>
          </a:p>
        </p:txBody>
      </p:sp>
      <p:pic>
        <p:nvPicPr>
          <p:cNvPr id="26" name="図 25">
            <a:extLst>
              <a:ext uri="{FF2B5EF4-FFF2-40B4-BE49-F238E27FC236}">
                <a16:creationId xmlns:a16="http://schemas.microsoft.com/office/drawing/2014/main" id="{34924ED6-9DC9-BF0B-593F-60544AFE4854}"/>
              </a:ext>
            </a:extLst>
          </p:cNvPr>
          <p:cNvPicPr>
            <a:picLocks noChangeAspect="1"/>
          </p:cNvPicPr>
          <p:nvPr/>
        </p:nvPicPr>
        <p:blipFill>
          <a:blip r:embed="rId4">
            <a:extLst>
              <a:ext uri="{28A0092B-C50C-407E-A947-70E740481C1C}">
                <a14:useLocalDpi xmlns:a14="http://schemas.microsoft.com/office/drawing/2010/main" val="0"/>
              </a:ext>
            </a:extLst>
          </a:blip>
          <a:srcRect l="15450" t="45135" r="61353" b="43761"/>
          <a:stretch>
            <a:fillRect/>
          </a:stretch>
        </p:blipFill>
        <p:spPr>
          <a:xfrm>
            <a:off x="428543" y="5343653"/>
            <a:ext cx="3512326" cy="1682375"/>
          </a:xfrm>
          <a:prstGeom prst="rect">
            <a:avLst/>
          </a:prstGeom>
        </p:spPr>
      </p:pic>
      <p:sp>
        <p:nvSpPr>
          <p:cNvPr id="28" name="テキスト ボックス 27">
            <a:extLst>
              <a:ext uri="{FF2B5EF4-FFF2-40B4-BE49-F238E27FC236}">
                <a16:creationId xmlns:a16="http://schemas.microsoft.com/office/drawing/2014/main" id="{9A4690F7-2EC8-141E-E001-5420FB1E9EBE}"/>
              </a:ext>
            </a:extLst>
          </p:cNvPr>
          <p:cNvSpPr txBox="1"/>
          <p:nvPr/>
        </p:nvSpPr>
        <p:spPr>
          <a:xfrm>
            <a:off x="3940868" y="6514572"/>
            <a:ext cx="6896007" cy="369332"/>
          </a:xfrm>
          <a:prstGeom prst="rect">
            <a:avLst/>
          </a:prstGeom>
          <a:noFill/>
        </p:spPr>
        <p:txBody>
          <a:bodyPr wrap="square">
            <a:spAutoFit/>
          </a:bodyPr>
          <a:lstStyle/>
          <a:p>
            <a:r>
              <a:rPr lang="ja-JP" altLang="en-US" dirty="0"/>
              <a:t>*</a:t>
            </a:r>
            <a:r>
              <a:rPr lang="ja-JP" altLang="ja-JP" dirty="0"/>
              <a:t>Kirillov, A., et al. (2024). </a:t>
            </a:r>
            <a:r>
              <a:rPr lang="ja-JP" altLang="ja-JP" i="1" dirty="0"/>
              <a:t>Segment Anything Model 2 (SAM 2)</a:t>
            </a:r>
            <a:r>
              <a:rPr lang="ja-JP" altLang="ja-JP" dirty="0"/>
              <a:t>. Meta AI.</a:t>
            </a:r>
            <a:endParaRPr lang="ja-JP" altLang="en-US" dirty="0"/>
          </a:p>
        </p:txBody>
      </p:sp>
    </p:spTree>
    <p:extLst>
      <p:ext uri="{BB962C8B-B14F-4D97-AF65-F5344CB8AC3E}">
        <p14:creationId xmlns:p14="http://schemas.microsoft.com/office/powerpoint/2010/main" val="232788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91D7F04-FD5F-DBD7-0B93-DEC04E240C03}"/>
              </a:ext>
            </a:extLst>
          </p:cNvPr>
          <p:cNvSpPr>
            <a:spLocks noGrp="1"/>
          </p:cNvSpPr>
          <p:nvPr>
            <p:ph type="sldNum" sz="quarter" idx="12"/>
          </p:nvPr>
        </p:nvSpPr>
        <p:spPr/>
        <p:txBody>
          <a:bodyPr/>
          <a:lstStyle/>
          <a:p>
            <a:fld id="{29A669C4-3E33-40D5-9129-B2BA8A5F5F4A}" type="slidenum">
              <a:rPr kumimoji="1" lang="ja-JP" altLang="en-US" smtClean="0"/>
              <a:t>6</a:t>
            </a:fld>
            <a:endParaRPr kumimoji="1" lang="ja-JP" altLang="en-US"/>
          </a:p>
        </p:txBody>
      </p:sp>
      <p:sp>
        <p:nvSpPr>
          <p:cNvPr id="4" name="テキスト ボックス 3">
            <a:extLst>
              <a:ext uri="{FF2B5EF4-FFF2-40B4-BE49-F238E27FC236}">
                <a16:creationId xmlns:a16="http://schemas.microsoft.com/office/drawing/2014/main" id="{843B15E2-D300-2636-1461-8CD156A9A65D}"/>
              </a:ext>
            </a:extLst>
          </p:cNvPr>
          <p:cNvSpPr txBox="1"/>
          <p:nvPr/>
        </p:nvSpPr>
        <p:spPr>
          <a:xfrm>
            <a:off x="0" y="0"/>
            <a:ext cx="9900458" cy="830997"/>
          </a:xfrm>
          <a:prstGeom prst="rect">
            <a:avLst/>
          </a:prstGeom>
          <a:noFill/>
        </p:spPr>
        <p:txBody>
          <a:bodyPr wrap="square">
            <a:spAutoFit/>
          </a:bodyPr>
          <a:lstStyle/>
          <a:p>
            <a:r>
              <a:rPr kumimoji="1" lang="en-US" altLang="ja-JP" sz="4800" dirty="0"/>
              <a:t>Q</a:t>
            </a:r>
            <a:r>
              <a:rPr kumimoji="1" lang="ja-JP" altLang="en-US" sz="4800" dirty="0"/>
              <a:t>．なぜ画像セグメンテーションなのか</a:t>
            </a:r>
            <a:endParaRPr lang="ja-JP" altLang="en-US" dirty="0"/>
          </a:p>
        </p:txBody>
      </p:sp>
      <p:pic>
        <p:nvPicPr>
          <p:cNvPr id="6" name="図 5">
            <a:extLst>
              <a:ext uri="{FF2B5EF4-FFF2-40B4-BE49-F238E27FC236}">
                <a16:creationId xmlns:a16="http://schemas.microsoft.com/office/drawing/2014/main" id="{F5CC7C25-04D8-A161-BBA9-C418558560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5367" y="830997"/>
            <a:ext cx="7481265" cy="4209857"/>
          </a:xfrm>
          <a:prstGeom prst="rect">
            <a:avLst/>
          </a:prstGeom>
        </p:spPr>
      </p:pic>
      <p:sp>
        <p:nvSpPr>
          <p:cNvPr id="8" name="テキスト ボックス 7">
            <a:extLst>
              <a:ext uri="{FF2B5EF4-FFF2-40B4-BE49-F238E27FC236}">
                <a16:creationId xmlns:a16="http://schemas.microsoft.com/office/drawing/2014/main" id="{4C89B46E-3053-D78F-DE6F-F3F57262B985}"/>
              </a:ext>
            </a:extLst>
          </p:cNvPr>
          <p:cNvSpPr txBox="1"/>
          <p:nvPr/>
        </p:nvSpPr>
        <p:spPr>
          <a:xfrm>
            <a:off x="6095999" y="5008464"/>
            <a:ext cx="4269259" cy="400110"/>
          </a:xfrm>
          <a:prstGeom prst="rect">
            <a:avLst/>
          </a:prstGeom>
          <a:noFill/>
        </p:spPr>
        <p:txBody>
          <a:bodyPr wrap="square">
            <a:spAutoFit/>
          </a:bodyPr>
          <a:lstStyle/>
          <a:p>
            <a:r>
              <a:rPr kumimoji="1" lang="en-US" altLang="ja-JP" sz="2000" dirty="0">
                <a:latin typeface="+mj-ea"/>
                <a:ea typeface="+mj-ea"/>
              </a:rPr>
              <a:t>『</a:t>
            </a:r>
            <a:r>
              <a:rPr kumimoji="1" lang="ja-JP" altLang="en-US" sz="2000" dirty="0">
                <a:latin typeface="+mj-ea"/>
                <a:ea typeface="+mj-ea"/>
              </a:rPr>
              <a:t>紅の豚</a:t>
            </a:r>
            <a:r>
              <a:rPr kumimoji="1" lang="en-US" altLang="ja-JP" sz="2000" dirty="0">
                <a:latin typeface="+mj-ea"/>
                <a:ea typeface="+mj-ea"/>
              </a:rPr>
              <a:t>』</a:t>
            </a:r>
            <a:r>
              <a:rPr kumimoji="1" lang="en-US" altLang="ja-JP" sz="2000" dirty="0"/>
              <a:t>(C)1992 Studio Ghibli</a:t>
            </a:r>
            <a:r>
              <a:rPr kumimoji="1" lang="ja-JP" altLang="en-US" sz="2000" dirty="0"/>
              <a:t>・</a:t>
            </a:r>
            <a:r>
              <a:rPr kumimoji="1" lang="en-US" altLang="ja-JP" sz="2000" dirty="0"/>
              <a:t>NN</a:t>
            </a:r>
            <a:endParaRPr kumimoji="1" lang="ja-JP" altLang="en-US" sz="2000" dirty="0">
              <a:latin typeface="+mj-ea"/>
              <a:ea typeface="+mj-ea"/>
            </a:endParaRPr>
          </a:p>
        </p:txBody>
      </p:sp>
      <p:sp>
        <p:nvSpPr>
          <p:cNvPr id="9" name="テキスト ボックス 8">
            <a:extLst>
              <a:ext uri="{FF2B5EF4-FFF2-40B4-BE49-F238E27FC236}">
                <a16:creationId xmlns:a16="http://schemas.microsoft.com/office/drawing/2014/main" id="{C93C8B50-6976-39E1-6830-7C1F8BBE9A21}"/>
              </a:ext>
            </a:extLst>
          </p:cNvPr>
          <p:cNvSpPr txBox="1"/>
          <p:nvPr/>
        </p:nvSpPr>
        <p:spPr>
          <a:xfrm>
            <a:off x="1542448" y="5662257"/>
            <a:ext cx="3940502" cy="523220"/>
          </a:xfrm>
          <a:prstGeom prst="rect">
            <a:avLst/>
          </a:prstGeom>
          <a:noFill/>
        </p:spPr>
        <p:txBody>
          <a:bodyPr wrap="none" rtlCol="0">
            <a:spAutoFit/>
          </a:bodyPr>
          <a:lstStyle/>
          <a:p>
            <a:r>
              <a:rPr kumimoji="1" lang="ja-JP" altLang="en-US" sz="2800" dirty="0"/>
              <a:t>ベタ塗り＋輪郭線の構成</a:t>
            </a:r>
          </a:p>
        </p:txBody>
      </p:sp>
      <p:sp>
        <p:nvSpPr>
          <p:cNvPr id="10" name="テキスト ボックス 9">
            <a:extLst>
              <a:ext uri="{FF2B5EF4-FFF2-40B4-BE49-F238E27FC236}">
                <a16:creationId xmlns:a16="http://schemas.microsoft.com/office/drawing/2014/main" id="{127563B6-1727-A756-ED29-5C47F963C7F7}"/>
              </a:ext>
            </a:extLst>
          </p:cNvPr>
          <p:cNvSpPr txBox="1"/>
          <p:nvPr/>
        </p:nvSpPr>
        <p:spPr>
          <a:xfrm>
            <a:off x="296329" y="5208519"/>
            <a:ext cx="1246119" cy="523220"/>
          </a:xfrm>
          <a:prstGeom prst="rect">
            <a:avLst/>
          </a:prstGeom>
          <a:noFill/>
        </p:spPr>
        <p:txBody>
          <a:bodyPr wrap="square" rtlCol="0">
            <a:spAutoFit/>
          </a:bodyPr>
          <a:lstStyle/>
          <a:p>
            <a:r>
              <a:rPr kumimoji="1" lang="ja-JP" altLang="en-US" sz="2800" dirty="0"/>
              <a:t>セル画</a:t>
            </a:r>
            <a:endParaRPr kumimoji="1" lang="en-US" altLang="ja-JP" sz="2800" dirty="0"/>
          </a:p>
        </p:txBody>
      </p:sp>
      <p:sp>
        <p:nvSpPr>
          <p:cNvPr id="11" name="テキスト ボックス 10">
            <a:extLst>
              <a:ext uri="{FF2B5EF4-FFF2-40B4-BE49-F238E27FC236}">
                <a16:creationId xmlns:a16="http://schemas.microsoft.com/office/drawing/2014/main" id="{8114841F-4009-3B36-7E0F-5319D95AD88E}"/>
              </a:ext>
            </a:extLst>
          </p:cNvPr>
          <p:cNvSpPr txBox="1"/>
          <p:nvPr/>
        </p:nvSpPr>
        <p:spPr>
          <a:xfrm>
            <a:off x="6585203" y="5700845"/>
            <a:ext cx="5011308" cy="523220"/>
          </a:xfrm>
          <a:prstGeom prst="rect">
            <a:avLst/>
          </a:prstGeom>
          <a:noFill/>
        </p:spPr>
        <p:txBody>
          <a:bodyPr wrap="none" rtlCol="0">
            <a:spAutoFit/>
          </a:bodyPr>
          <a:lstStyle/>
          <a:p>
            <a:r>
              <a:rPr kumimoji="1" lang="ja-JP" altLang="en-US" sz="2800" dirty="0"/>
              <a:t>画像中の意味ある領域の集まり</a:t>
            </a:r>
          </a:p>
        </p:txBody>
      </p:sp>
      <p:cxnSp>
        <p:nvCxnSpPr>
          <p:cNvPr id="13" name="コネクタ: カギ線 12">
            <a:extLst>
              <a:ext uri="{FF2B5EF4-FFF2-40B4-BE49-F238E27FC236}">
                <a16:creationId xmlns:a16="http://schemas.microsoft.com/office/drawing/2014/main" id="{F62A76D6-8DF4-9100-5698-283E3F775A3E}"/>
              </a:ext>
            </a:extLst>
          </p:cNvPr>
          <p:cNvCxnSpPr>
            <a:cxnSpLocks/>
            <a:stCxn id="10" idx="2"/>
            <a:endCxn id="9" idx="1"/>
          </p:cNvCxnSpPr>
          <p:nvPr/>
        </p:nvCxnSpPr>
        <p:spPr>
          <a:xfrm rot="16200000" flipH="1">
            <a:off x="1134854" y="5516273"/>
            <a:ext cx="192128" cy="623059"/>
          </a:xfrm>
          <a:prstGeom prst="bentConnector2">
            <a:avLst/>
          </a:prstGeom>
          <a:ln w="63500">
            <a:tailEnd type="triangle"/>
          </a:ln>
        </p:spPr>
        <p:style>
          <a:lnRef idx="1">
            <a:schemeClr val="dk1"/>
          </a:lnRef>
          <a:fillRef idx="0">
            <a:schemeClr val="dk1"/>
          </a:fillRef>
          <a:effectRef idx="0">
            <a:schemeClr val="dk1"/>
          </a:effectRef>
          <a:fontRef idx="minor">
            <a:schemeClr val="tx1"/>
          </a:fontRef>
        </p:style>
      </p:cxnSp>
      <p:sp>
        <p:nvSpPr>
          <p:cNvPr id="23" name="矢印: 右 22">
            <a:extLst>
              <a:ext uri="{FF2B5EF4-FFF2-40B4-BE49-F238E27FC236}">
                <a16:creationId xmlns:a16="http://schemas.microsoft.com/office/drawing/2014/main" id="{7A8D7302-F955-590A-B0C1-EFA3CA231B88}"/>
              </a:ext>
            </a:extLst>
          </p:cNvPr>
          <p:cNvSpPr/>
          <p:nvPr/>
        </p:nvSpPr>
        <p:spPr>
          <a:xfrm>
            <a:off x="5606795" y="5700845"/>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1E3733FE-622C-DBD8-FDD4-4DF366283C2D}"/>
              </a:ext>
            </a:extLst>
          </p:cNvPr>
          <p:cNvSpPr txBox="1"/>
          <p:nvPr/>
        </p:nvSpPr>
        <p:spPr>
          <a:xfrm>
            <a:off x="4188940" y="2267015"/>
            <a:ext cx="543739" cy="523220"/>
          </a:xfrm>
          <a:prstGeom prst="rect">
            <a:avLst/>
          </a:prstGeom>
          <a:noFill/>
        </p:spPr>
        <p:txBody>
          <a:bodyPr wrap="none" rtlCol="0">
            <a:spAutoFit/>
          </a:bodyPr>
          <a:lstStyle/>
          <a:p>
            <a:r>
              <a:rPr kumimoji="1" lang="ja-JP" altLang="en-US" sz="2800" dirty="0">
                <a:solidFill>
                  <a:schemeClr val="bg1"/>
                </a:solidFill>
              </a:rPr>
              <a:t>木</a:t>
            </a:r>
          </a:p>
        </p:txBody>
      </p:sp>
      <p:sp>
        <p:nvSpPr>
          <p:cNvPr id="32" name="テキスト ボックス 31">
            <a:extLst>
              <a:ext uri="{FF2B5EF4-FFF2-40B4-BE49-F238E27FC236}">
                <a16:creationId xmlns:a16="http://schemas.microsoft.com/office/drawing/2014/main" id="{377E6C37-845C-39B7-D69A-EF893C9BB7C8}"/>
              </a:ext>
            </a:extLst>
          </p:cNvPr>
          <p:cNvSpPr txBox="1"/>
          <p:nvPr/>
        </p:nvSpPr>
        <p:spPr>
          <a:xfrm>
            <a:off x="4939211" y="2528625"/>
            <a:ext cx="543739" cy="523220"/>
          </a:xfrm>
          <a:prstGeom prst="rect">
            <a:avLst/>
          </a:prstGeom>
          <a:noFill/>
        </p:spPr>
        <p:txBody>
          <a:bodyPr wrap="none" rtlCol="0">
            <a:spAutoFit/>
          </a:bodyPr>
          <a:lstStyle/>
          <a:p>
            <a:r>
              <a:rPr kumimoji="1" lang="ja-JP" altLang="en-US" sz="2800" dirty="0">
                <a:solidFill>
                  <a:schemeClr val="bg1"/>
                </a:solidFill>
              </a:rPr>
              <a:t>木</a:t>
            </a:r>
          </a:p>
        </p:txBody>
      </p:sp>
      <p:sp>
        <p:nvSpPr>
          <p:cNvPr id="38" name="テキスト ボックス 37">
            <a:extLst>
              <a:ext uri="{FF2B5EF4-FFF2-40B4-BE49-F238E27FC236}">
                <a16:creationId xmlns:a16="http://schemas.microsoft.com/office/drawing/2014/main" id="{520A774F-FD62-BAA2-9136-025CEE407731}"/>
              </a:ext>
            </a:extLst>
          </p:cNvPr>
          <p:cNvSpPr txBox="1"/>
          <p:nvPr/>
        </p:nvSpPr>
        <p:spPr>
          <a:xfrm>
            <a:off x="8722127" y="2468871"/>
            <a:ext cx="543739" cy="523220"/>
          </a:xfrm>
          <a:prstGeom prst="rect">
            <a:avLst/>
          </a:prstGeom>
          <a:noFill/>
        </p:spPr>
        <p:txBody>
          <a:bodyPr wrap="none" rtlCol="0">
            <a:spAutoFit/>
          </a:bodyPr>
          <a:lstStyle/>
          <a:p>
            <a:r>
              <a:rPr kumimoji="1" lang="ja-JP" altLang="en-US" sz="2800" dirty="0">
                <a:solidFill>
                  <a:schemeClr val="bg1"/>
                </a:solidFill>
              </a:rPr>
              <a:t>木</a:t>
            </a:r>
          </a:p>
        </p:txBody>
      </p:sp>
      <p:sp>
        <p:nvSpPr>
          <p:cNvPr id="40" name="テキスト ボックス 39">
            <a:extLst>
              <a:ext uri="{FF2B5EF4-FFF2-40B4-BE49-F238E27FC236}">
                <a16:creationId xmlns:a16="http://schemas.microsoft.com/office/drawing/2014/main" id="{5ABCD20B-33C2-D219-C659-939D46A4E108}"/>
              </a:ext>
            </a:extLst>
          </p:cNvPr>
          <p:cNvSpPr txBox="1"/>
          <p:nvPr/>
        </p:nvSpPr>
        <p:spPr>
          <a:xfrm>
            <a:off x="5956504" y="4275318"/>
            <a:ext cx="543739" cy="523220"/>
          </a:xfrm>
          <a:prstGeom prst="rect">
            <a:avLst/>
          </a:prstGeom>
          <a:noFill/>
        </p:spPr>
        <p:txBody>
          <a:bodyPr wrap="none" rtlCol="0">
            <a:spAutoFit/>
          </a:bodyPr>
          <a:lstStyle/>
          <a:p>
            <a:r>
              <a:rPr kumimoji="1" lang="ja-JP" altLang="en-US" sz="2800" dirty="0">
                <a:solidFill>
                  <a:schemeClr val="bg1"/>
                </a:solidFill>
              </a:rPr>
              <a:t>水</a:t>
            </a:r>
          </a:p>
        </p:txBody>
      </p:sp>
      <p:sp>
        <p:nvSpPr>
          <p:cNvPr id="42" name="テキスト ボックス 41">
            <a:extLst>
              <a:ext uri="{FF2B5EF4-FFF2-40B4-BE49-F238E27FC236}">
                <a16:creationId xmlns:a16="http://schemas.microsoft.com/office/drawing/2014/main" id="{846AE983-5885-BDC0-5919-B0F92D012B2E}"/>
              </a:ext>
            </a:extLst>
          </p:cNvPr>
          <p:cNvSpPr txBox="1"/>
          <p:nvPr/>
        </p:nvSpPr>
        <p:spPr>
          <a:xfrm>
            <a:off x="2464536" y="1138774"/>
            <a:ext cx="1418978" cy="523220"/>
          </a:xfrm>
          <a:prstGeom prst="rect">
            <a:avLst/>
          </a:prstGeom>
          <a:noFill/>
        </p:spPr>
        <p:txBody>
          <a:bodyPr wrap="none" rtlCol="0">
            <a:spAutoFit/>
          </a:bodyPr>
          <a:lstStyle/>
          <a:p>
            <a:r>
              <a:rPr kumimoji="1" lang="ja-JP" altLang="en-US" sz="2800" dirty="0">
                <a:solidFill>
                  <a:schemeClr val="bg1"/>
                </a:solidFill>
              </a:rPr>
              <a:t>トンネル</a:t>
            </a:r>
          </a:p>
        </p:txBody>
      </p:sp>
      <p:sp>
        <p:nvSpPr>
          <p:cNvPr id="44" name="テキスト ボックス 43">
            <a:extLst>
              <a:ext uri="{FF2B5EF4-FFF2-40B4-BE49-F238E27FC236}">
                <a16:creationId xmlns:a16="http://schemas.microsoft.com/office/drawing/2014/main" id="{A3A5AB32-CB6C-7FE0-BF03-945E8101BD5E}"/>
              </a:ext>
            </a:extLst>
          </p:cNvPr>
          <p:cNvSpPr txBox="1"/>
          <p:nvPr/>
        </p:nvSpPr>
        <p:spPr>
          <a:xfrm>
            <a:off x="8449567" y="1040923"/>
            <a:ext cx="1418978" cy="523220"/>
          </a:xfrm>
          <a:prstGeom prst="rect">
            <a:avLst/>
          </a:prstGeom>
          <a:noFill/>
        </p:spPr>
        <p:txBody>
          <a:bodyPr wrap="none" rtlCol="0">
            <a:spAutoFit/>
          </a:bodyPr>
          <a:lstStyle/>
          <a:p>
            <a:r>
              <a:rPr kumimoji="1" lang="ja-JP" altLang="en-US" sz="2800" dirty="0">
                <a:solidFill>
                  <a:schemeClr val="bg1"/>
                </a:solidFill>
              </a:rPr>
              <a:t>トンネル</a:t>
            </a:r>
          </a:p>
        </p:txBody>
      </p:sp>
      <p:sp>
        <p:nvSpPr>
          <p:cNvPr id="46" name="テキスト ボックス 45">
            <a:extLst>
              <a:ext uri="{FF2B5EF4-FFF2-40B4-BE49-F238E27FC236}">
                <a16:creationId xmlns:a16="http://schemas.microsoft.com/office/drawing/2014/main" id="{7582AD5B-EB91-4FEB-642F-4782E5EA9B84}"/>
              </a:ext>
            </a:extLst>
          </p:cNvPr>
          <p:cNvSpPr txBox="1"/>
          <p:nvPr/>
        </p:nvSpPr>
        <p:spPr>
          <a:xfrm>
            <a:off x="5988458" y="1156591"/>
            <a:ext cx="543739" cy="523220"/>
          </a:xfrm>
          <a:prstGeom prst="rect">
            <a:avLst/>
          </a:prstGeom>
          <a:noFill/>
        </p:spPr>
        <p:txBody>
          <a:bodyPr wrap="none" rtlCol="0">
            <a:spAutoFit/>
          </a:bodyPr>
          <a:lstStyle/>
          <a:p>
            <a:r>
              <a:rPr kumimoji="1" lang="ja-JP" altLang="en-US" sz="2800" dirty="0">
                <a:solidFill>
                  <a:schemeClr val="bg1"/>
                </a:solidFill>
              </a:rPr>
              <a:t>空</a:t>
            </a:r>
          </a:p>
        </p:txBody>
      </p:sp>
    </p:spTree>
    <p:extLst>
      <p:ext uri="{BB962C8B-B14F-4D97-AF65-F5344CB8AC3E}">
        <p14:creationId xmlns:p14="http://schemas.microsoft.com/office/powerpoint/2010/main" val="3774008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3" grpId="0" animBg="1"/>
      <p:bldP spid="30" grpId="0"/>
      <p:bldP spid="32" grpId="0"/>
      <p:bldP spid="38" grpId="0"/>
      <p:bldP spid="40" grpId="0"/>
      <p:bldP spid="42" grpId="0"/>
      <p:bldP spid="44" grpId="0"/>
      <p:bldP spid="4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A94250F-0030-1597-6AC7-849F18ADF084}"/>
              </a:ext>
            </a:extLst>
          </p:cNvPr>
          <p:cNvSpPr>
            <a:spLocks noGrp="1"/>
          </p:cNvSpPr>
          <p:nvPr>
            <p:ph type="sldNum" sz="quarter" idx="12"/>
          </p:nvPr>
        </p:nvSpPr>
        <p:spPr/>
        <p:txBody>
          <a:bodyPr/>
          <a:lstStyle/>
          <a:p>
            <a:fld id="{29A669C4-3E33-40D5-9129-B2BA8A5F5F4A}" type="slidenum">
              <a:rPr kumimoji="1" lang="ja-JP" altLang="en-US" smtClean="0"/>
              <a:t>7</a:t>
            </a:fld>
            <a:endParaRPr kumimoji="1" lang="ja-JP" altLang="en-US"/>
          </a:p>
        </p:txBody>
      </p:sp>
      <p:sp>
        <p:nvSpPr>
          <p:cNvPr id="5" name="テキスト ボックス 4">
            <a:extLst>
              <a:ext uri="{FF2B5EF4-FFF2-40B4-BE49-F238E27FC236}">
                <a16:creationId xmlns:a16="http://schemas.microsoft.com/office/drawing/2014/main" id="{B08F1937-F2B2-2D6E-42F2-32E0802078CE}"/>
              </a:ext>
            </a:extLst>
          </p:cNvPr>
          <p:cNvSpPr txBox="1"/>
          <p:nvPr/>
        </p:nvSpPr>
        <p:spPr>
          <a:xfrm>
            <a:off x="0" y="0"/>
            <a:ext cx="3254417" cy="830997"/>
          </a:xfrm>
          <a:prstGeom prst="rect">
            <a:avLst/>
          </a:prstGeom>
          <a:noFill/>
        </p:spPr>
        <p:txBody>
          <a:bodyPr wrap="none" rtlCol="0">
            <a:spAutoFit/>
          </a:bodyPr>
          <a:lstStyle/>
          <a:p>
            <a:r>
              <a:rPr kumimoji="1" lang="en-US" altLang="ja-JP" sz="4800" dirty="0"/>
              <a:t>2. </a:t>
            </a:r>
            <a:r>
              <a:rPr kumimoji="1" lang="ja-JP" altLang="en-US" sz="4800" dirty="0"/>
              <a:t>色の決定</a:t>
            </a:r>
          </a:p>
        </p:txBody>
      </p:sp>
      <p:sp>
        <p:nvSpPr>
          <p:cNvPr id="10" name="正方形/長方形 9">
            <a:extLst>
              <a:ext uri="{FF2B5EF4-FFF2-40B4-BE49-F238E27FC236}">
                <a16:creationId xmlns:a16="http://schemas.microsoft.com/office/drawing/2014/main" id="{24873706-7F74-4987-4BEC-1CDB2596A370}"/>
              </a:ext>
            </a:extLst>
          </p:cNvPr>
          <p:cNvSpPr/>
          <p:nvPr/>
        </p:nvSpPr>
        <p:spPr>
          <a:xfrm>
            <a:off x="35892" y="942736"/>
            <a:ext cx="3429000" cy="3428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グレーで領域分割済のもの</a:t>
            </a:r>
          </a:p>
        </p:txBody>
      </p:sp>
      <p:sp>
        <p:nvSpPr>
          <p:cNvPr id="36" name="テキスト ボックス 35">
            <a:extLst>
              <a:ext uri="{FF2B5EF4-FFF2-40B4-BE49-F238E27FC236}">
                <a16:creationId xmlns:a16="http://schemas.microsoft.com/office/drawing/2014/main" id="{78736AE9-D59D-5249-40D2-9258DA920AA6}"/>
              </a:ext>
            </a:extLst>
          </p:cNvPr>
          <p:cNvSpPr txBox="1"/>
          <p:nvPr/>
        </p:nvSpPr>
        <p:spPr>
          <a:xfrm>
            <a:off x="1196394" y="4378631"/>
            <a:ext cx="1107996" cy="461665"/>
          </a:xfrm>
          <a:prstGeom prst="rect">
            <a:avLst/>
          </a:prstGeom>
          <a:noFill/>
        </p:spPr>
        <p:txBody>
          <a:bodyPr wrap="none" rtlCol="0">
            <a:spAutoFit/>
          </a:bodyPr>
          <a:lstStyle/>
          <a:p>
            <a:r>
              <a:rPr kumimoji="1" lang="ja-JP" altLang="en-US" sz="2400" dirty="0"/>
              <a:t>分割後</a:t>
            </a:r>
          </a:p>
        </p:txBody>
      </p:sp>
      <p:sp>
        <p:nvSpPr>
          <p:cNvPr id="38" name="テキスト ボックス 37">
            <a:extLst>
              <a:ext uri="{FF2B5EF4-FFF2-40B4-BE49-F238E27FC236}">
                <a16:creationId xmlns:a16="http://schemas.microsoft.com/office/drawing/2014/main" id="{54EEBF76-DD47-C109-66F1-064BD9521C18}"/>
              </a:ext>
            </a:extLst>
          </p:cNvPr>
          <p:cNvSpPr txBox="1"/>
          <p:nvPr/>
        </p:nvSpPr>
        <p:spPr>
          <a:xfrm>
            <a:off x="4773292" y="4391446"/>
            <a:ext cx="2646878" cy="461665"/>
          </a:xfrm>
          <a:prstGeom prst="rect">
            <a:avLst/>
          </a:prstGeom>
          <a:noFill/>
        </p:spPr>
        <p:txBody>
          <a:bodyPr wrap="none" rtlCol="0">
            <a:spAutoFit/>
          </a:bodyPr>
          <a:lstStyle/>
          <a:p>
            <a:r>
              <a:rPr kumimoji="1" lang="ja-JP" altLang="en-US" sz="2400" dirty="0"/>
              <a:t>元画像の該当部分</a:t>
            </a:r>
          </a:p>
        </p:txBody>
      </p:sp>
      <p:sp>
        <p:nvSpPr>
          <p:cNvPr id="40" name="テキスト ボックス 39">
            <a:extLst>
              <a:ext uri="{FF2B5EF4-FFF2-40B4-BE49-F238E27FC236}">
                <a16:creationId xmlns:a16="http://schemas.microsoft.com/office/drawing/2014/main" id="{502C779E-C03C-E0B1-3D71-203CEBD59A19}"/>
              </a:ext>
            </a:extLst>
          </p:cNvPr>
          <p:cNvSpPr txBox="1"/>
          <p:nvPr/>
        </p:nvSpPr>
        <p:spPr>
          <a:xfrm>
            <a:off x="9955470" y="4365780"/>
            <a:ext cx="800219" cy="461665"/>
          </a:xfrm>
          <a:prstGeom prst="rect">
            <a:avLst/>
          </a:prstGeom>
          <a:noFill/>
        </p:spPr>
        <p:txBody>
          <a:bodyPr wrap="none" rtlCol="0">
            <a:spAutoFit/>
          </a:bodyPr>
          <a:lstStyle/>
          <a:p>
            <a:r>
              <a:rPr kumimoji="1" lang="ja-JP" altLang="en-US" sz="2400" dirty="0"/>
              <a:t>出力</a:t>
            </a:r>
          </a:p>
        </p:txBody>
      </p:sp>
      <p:sp>
        <p:nvSpPr>
          <p:cNvPr id="42" name="四角形: 角を丸くする 41">
            <a:extLst>
              <a:ext uri="{FF2B5EF4-FFF2-40B4-BE49-F238E27FC236}">
                <a16:creationId xmlns:a16="http://schemas.microsoft.com/office/drawing/2014/main" id="{FF538FED-B680-2AA3-1D1C-54F0AD743474}"/>
              </a:ext>
            </a:extLst>
          </p:cNvPr>
          <p:cNvSpPr/>
          <p:nvPr/>
        </p:nvSpPr>
        <p:spPr>
          <a:xfrm>
            <a:off x="979517" y="5285266"/>
            <a:ext cx="5337810" cy="1275486"/>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50" charset="-128"/>
                <a:cs typeface="+mn-cs"/>
              </a:rPr>
              <a:t>色の決め方：領域内の画素の平均</a:t>
            </a:r>
            <a:endParaRPr kumimoji="1" lang="en-US" altLang="ja-JP"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50" charset="-128"/>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2400" dirty="0">
                <a:solidFill>
                  <a:srgbClr val="000000"/>
                </a:solidFill>
                <a:latin typeface="Calibri" panose="020F0502020204030204"/>
                <a:ea typeface="ＭＳ Ｐゴシック" panose="020B0600070205080204" pitchFamily="50" charset="-128"/>
              </a:rPr>
              <a:t>輪郭線　　　：各領域の境界部分を参照</a:t>
            </a:r>
            <a:endParaRPr kumimoji="1" lang="ja-JP"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50" charset="-128"/>
              <a:cs typeface="+mn-cs"/>
            </a:endParaRPr>
          </a:p>
        </p:txBody>
      </p:sp>
      <p:sp>
        <p:nvSpPr>
          <p:cNvPr id="43" name="矢印: 右 42">
            <a:extLst>
              <a:ext uri="{FF2B5EF4-FFF2-40B4-BE49-F238E27FC236}">
                <a16:creationId xmlns:a16="http://schemas.microsoft.com/office/drawing/2014/main" id="{184CA1EA-3856-6F72-5885-E058BBDE7F94}"/>
              </a:ext>
            </a:extLst>
          </p:cNvPr>
          <p:cNvSpPr/>
          <p:nvPr/>
        </p:nvSpPr>
        <p:spPr>
          <a:xfrm>
            <a:off x="3589020" y="2414920"/>
            <a:ext cx="66294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矢印: 右 44">
            <a:extLst>
              <a:ext uri="{FF2B5EF4-FFF2-40B4-BE49-F238E27FC236}">
                <a16:creationId xmlns:a16="http://schemas.microsoft.com/office/drawing/2014/main" id="{1AF3343B-7809-3CE8-2BD3-164EF9D4389A}"/>
              </a:ext>
            </a:extLst>
          </p:cNvPr>
          <p:cNvSpPr/>
          <p:nvPr/>
        </p:nvSpPr>
        <p:spPr>
          <a:xfrm>
            <a:off x="7887802" y="2414920"/>
            <a:ext cx="701042"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矢印: 右 46">
            <a:extLst>
              <a:ext uri="{FF2B5EF4-FFF2-40B4-BE49-F238E27FC236}">
                <a16:creationId xmlns:a16="http://schemas.microsoft.com/office/drawing/2014/main" id="{A69655BB-9618-02D2-EA5E-E14FA3E1F96E}"/>
              </a:ext>
            </a:extLst>
          </p:cNvPr>
          <p:cNvSpPr/>
          <p:nvPr/>
        </p:nvSpPr>
        <p:spPr>
          <a:xfrm>
            <a:off x="6580901" y="5680693"/>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E9A17F82-09C9-CEB1-1D57-B6AFBBB84EB6}"/>
              </a:ext>
            </a:extLst>
          </p:cNvPr>
          <p:cNvSpPr txBox="1"/>
          <p:nvPr/>
        </p:nvSpPr>
        <p:spPr>
          <a:xfrm>
            <a:off x="7838623" y="5673435"/>
            <a:ext cx="2816797"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50" charset="-128"/>
                <a:cs typeface="+mn-cs"/>
              </a:rPr>
              <a:t>機械的に決定できる</a:t>
            </a:r>
            <a:endParaRPr kumimoji="1" lang="en-US" altLang="ja-JP"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50" charset="-128"/>
              <a:cs typeface="+mn-cs"/>
            </a:endParaRPr>
          </a:p>
        </p:txBody>
      </p:sp>
      <p:pic>
        <p:nvPicPr>
          <p:cNvPr id="4" name="図 3">
            <a:extLst>
              <a:ext uri="{FF2B5EF4-FFF2-40B4-BE49-F238E27FC236}">
                <a16:creationId xmlns:a16="http://schemas.microsoft.com/office/drawing/2014/main" id="{96E1CC1E-3218-2E12-C274-BCBABDABDF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29" y="928149"/>
            <a:ext cx="3455926" cy="3458171"/>
          </a:xfrm>
          <a:prstGeom prst="rect">
            <a:avLst/>
          </a:prstGeom>
        </p:spPr>
      </p:pic>
      <p:pic>
        <p:nvPicPr>
          <p:cNvPr id="8" name="図 7">
            <a:extLst>
              <a:ext uri="{FF2B5EF4-FFF2-40B4-BE49-F238E27FC236}">
                <a16:creationId xmlns:a16="http://schemas.microsoft.com/office/drawing/2014/main" id="{6BB4AFFA-9339-960B-F653-02A5A6006A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71558" y="977860"/>
            <a:ext cx="3408460" cy="3408460"/>
          </a:xfrm>
          <a:prstGeom prst="rect">
            <a:avLst/>
          </a:prstGeom>
        </p:spPr>
      </p:pic>
      <p:cxnSp>
        <p:nvCxnSpPr>
          <p:cNvPr id="6" name="コネクタ: カギ線 5">
            <a:extLst>
              <a:ext uri="{FF2B5EF4-FFF2-40B4-BE49-F238E27FC236}">
                <a16:creationId xmlns:a16="http://schemas.microsoft.com/office/drawing/2014/main" id="{B13A7F66-B050-2202-91D9-6D08B7D95CF2}"/>
              </a:ext>
            </a:extLst>
          </p:cNvPr>
          <p:cNvCxnSpPr>
            <a:cxnSpLocks/>
            <a:stCxn id="40" idx="2"/>
            <a:endCxn id="36" idx="2"/>
          </p:cNvCxnSpPr>
          <p:nvPr/>
        </p:nvCxnSpPr>
        <p:spPr>
          <a:xfrm rot="5400000">
            <a:off x="6046561" y="531276"/>
            <a:ext cx="12851" cy="8605188"/>
          </a:xfrm>
          <a:prstGeom prst="bentConnector3">
            <a:avLst>
              <a:gd name="adj1" fmla="val 2323562"/>
            </a:avLst>
          </a:prstGeom>
          <a:ln w="63500">
            <a:tailEnd type="triangle"/>
          </a:ln>
        </p:spPr>
        <p:style>
          <a:lnRef idx="1">
            <a:schemeClr val="accent1"/>
          </a:lnRef>
          <a:fillRef idx="0">
            <a:schemeClr val="accent1"/>
          </a:fillRef>
          <a:effectRef idx="0">
            <a:schemeClr val="accent1"/>
          </a:effectRef>
          <a:fontRef idx="minor">
            <a:schemeClr val="tx1"/>
          </a:fontRef>
        </p:style>
      </p:cxnSp>
      <p:pic>
        <p:nvPicPr>
          <p:cNvPr id="11" name="図 10">
            <a:extLst>
              <a:ext uri="{FF2B5EF4-FFF2-40B4-BE49-F238E27FC236}">
                <a16:creationId xmlns:a16="http://schemas.microsoft.com/office/drawing/2014/main" id="{3708E8A0-81C6-31AD-661A-18B1617E7B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58603" y="944844"/>
            <a:ext cx="3422555" cy="3424779"/>
          </a:xfrm>
          <a:prstGeom prst="rect">
            <a:avLst/>
          </a:prstGeom>
        </p:spPr>
      </p:pic>
    </p:spTree>
    <p:extLst>
      <p:ext uri="{BB962C8B-B14F-4D97-AF65-F5344CB8AC3E}">
        <p14:creationId xmlns:p14="http://schemas.microsoft.com/office/powerpoint/2010/main" val="2259827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540A6-6F29-1CA7-CD12-D12229927934}"/>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8896C7A-4ADF-208F-06DD-CFC2BEE7E204}"/>
              </a:ext>
            </a:extLst>
          </p:cNvPr>
          <p:cNvSpPr txBox="1"/>
          <p:nvPr/>
        </p:nvSpPr>
        <p:spPr>
          <a:xfrm>
            <a:off x="0" y="0"/>
            <a:ext cx="2031325" cy="830997"/>
          </a:xfrm>
          <a:prstGeom prst="rect">
            <a:avLst/>
          </a:prstGeom>
          <a:noFill/>
        </p:spPr>
        <p:txBody>
          <a:bodyPr wrap="none" rtlCol="0">
            <a:spAutoFit/>
          </a:bodyPr>
          <a:lstStyle/>
          <a:p>
            <a:r>
              <a:rPr kumimoji="1" lang="ja-JP" altLang="en-US" sz="4800" dirty="0"/>
              <a:t>結果例</a:t>
            </a:r>
          </a:p>
        </p:txBody>
      </p:sp>
      <p:sp>
        <p:nvSpPr>
          <p:cNvPr id="3" name="スライド番号プレースホルダー 2">
            <a:extLst>
              <a:ext uri="{FF2B5EF4-FFF2-40B4-BE49-F238E27FC236}">
                <a16:creationId xmlns:a16="http://schemas.microsoft.com/office/drawing/2014/main" id="{7A63EC5E-064E-AABF-8A4E-A9B26E511886}"/>
              </a:ext>
            </a:extLst>
          </p:cNvPr>
          <p:cNvSpPr>
            <a:spLocks noGrp="1"/>
          </p:cNvSpPr>
          <p:nvPr>
            <p:ph type="sldNum" sz="quarter" idx="12"/>
          </p:nvPr>
        </p:nvSpPr>
        <p:spPr/>
        <p:txBody>
          <a:bodyPr/>
          <a:lstStyle/>
          <a:p>
            <a:fld id="{29A669C4-3E33-40D5-9129-B2BA8A5F5F4A}" type="slidenum">
              <a:rPr kumimoji="1" lang="ja-JP" altLang="en-US" smtClean="0"/>
              <a:t>8</a:t>
            </a:fld>
            <a:endParaRPr kumimoji="1" lang="ja-JP" altLang="en-US"/>
          </a:p>
        </p:txBody>
      </p:sp>
      <p:graphicFrame>
        <p:nvGraphicFramePr>
          <p:cNvPr id="4" name="表 3">
            <a:extLst>
              <a:ext uri="{FF2B5EF4-FFF2-40B4-BE49-F238E27FC236}">
                <a16:creationId xmlns:a16="http://schemas.microsoft.com/office/drawing/2014/main" id="{20BC4DBA-325F-E610-3969-C0D58864C58A}"/>
              </a:ext>
            </a:extLst>
          </p:cNvPr>
          <p:cNvGraphicFramePr>
            <a:graphicFrameLocks noGrp="1"/>
          </p:cNvGraphicFramePr>
          <p:nvPr>
            <p:extLst>
              <p:ext uri="{D42A27DB-BD31-4B8C-83A1-F6EECF244321}">
                <p14:modId xmlns:p14="http://schemas.microsoft.com/office/powerpoint/2010/main" val="2997134761"/>
              </p:ext>
            </p:extLst>
          </p:nvPr>
        </p:nvGraphicFramePr>
        <p:xfrm>
          <a:off x="0" y="1385178"/>
          <a:ext cx="12192000" cy="3706668"/>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158069639"/>
                    </a:ext>
                  </a:extLst>
                </a:gridCol>
                <a:gridCol w="3048000">
                  <a:extLst>
                    <a:ext uri="{9D8B030D-6E8A-4147-A177-3AD203B41FA5}">
                      <a16:colId xmlns:a16="http://schemas.microsoft.com/office/drawing/2014/main" val="1246425090"/>
                    </a:ext>
                  </a:extLst>
                </a:gridCol>
                <a:gridCol w="3048000">
                  <a:extLst>
                    <a:ext uri="{9D8B030D-6E8A-4147-A177-3AD203B41FA5}">
                      <a16:colId xmlns:a16="http://schemas.microsoft.com/office/drawing/2014/main" val="1650149888"/>
                    </a:ext>
                  </a:extLst>
                </a:gridCol>
                <a:gridCol w="3048000">
                  <a:extLst>
                    <a:ext uri="{9D8B030D-6E8A-4147-A177-3AD203B41FA5}">
                      <a16:colId xmlns:a16="http://schemas.microsoft.com/office/drawing/2014/main" val="2813284188"/>
                    </a:ext>
                  </a:extLst>
                </a:gridCol>
              </a:tblGrid>
              <a:tr h="1235556">
                <a:tc>
                  <a:txBody>
                    <a:bodyPr/>
                    <a:lstStyle/>
                    <a:p>
                      <a:pPr algn="ctr"/>
                      <a:r>
                        <a:rPr kumimoji="1" lang="ja-JP" altLang="en-US" sz="2400" dirty="0"/>
                        <a:t>評価項目</a:t>
                      </a:r>
                    </a:p>
                  </a:txBody>
                  <a:tcPr anchor="ct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1431915038"/>
                  </a:ext>
                </a:extLst>
              </a:tr>
              <a:tr h="1235556">
                <a:tc>
                  <a:txBody>
                    <a:bodyPr/>
                    <a:lstStyle/>
                    <a:p>
                      <a:r>
                        <a:rPr kumimoji="1" lang="ja-JP" altLang="en-US" sz="2000" dirty="0"/>
                        <a:t>領域化：</a:t>
                      </a:r>
                      <a:endParaRPr kumimoji="1" lang="en-US" altLang="ja-JP" sz="2000" dirty="0"/>
                    </a:p>
                    <a:p>
                      <a:r>
                        <a:rPr kumimoji="1" lang="ja-JP" altLang="en-US" sz="2000" dirty="0"/>
                        <a:t>大きな塊として</a:t>
                      </a:r>
                      <a:endParaRPr kumimoji="1" lang="en-US" altLang="ja-JP" sz="2000" dirty="0"/>
                    </a:p>
                    <a:p>
                      <a:r>
                        <a:rPr kumimoji="1" lang="ja-JP" altLang="en-US" sz="2000" dirty="0"/>
                        <a:t>単純化、抽象化されている</a:t>
                      </a:r>
                    </a:p>
                  </a:txBody>
                  <a:tcPr/>
                </a:tc>
                <a:tc>
                  <a:txBody>
                    <a:bodyPr/>
                    <a:lstStyle/>
                    <a:p>
                      <a:pPr algn="ctr"/>
                      <a:r>
                        <a:rPr kumimoji="1" lang="ja-JP" altLang="en-US" sz="4800" dirty="0"/>
                        <a:t>○</a:t>
                      </a:r>
                    </a:p>
                  </a:txBody>
                  <a:tcPr anchor="ctr"/>
                </a:tc>
                <a:tc>
                  <a:txBody>
                    <a:bodyPr/>
                    <a:lstStyle/>
                    <a:p>
                      <a:pPr algn="ctr"/>
                      <a:r>
                        <a:rPr kumimoji="1" lang="ja-JP" altLang="en-US" sz="4800" dirty="0"/>
                        <a:t>△</a:t>
                      </a:r>
                    </a:p>
                  </a:txBody>
                  <a:tcPr anchor="ctr"/>
                </a:tc>
                <a:tc>
                  <a:txBody>
                    <a:bodyPr/>
                    <a:lstStyle/>
                    <a:p>
                      <a:pPr algn="ctr"/>
                      <a:r>
                        <a:rPr kumimoji="1" lang="en-US" altLang="ja-JP" sz="4800" dirty="0"/>
                        <a:t>×</a:t>
                      </a:r>
                      <a:endParaRPr kumimoji="1" lang="ja-JP" altLang="en-US" sz="4800" dirty="0"/>
                    </a:p>
                  </a:txBody>
                  <a:tcPr anchor="ctr"/>
                </a:tc>
                <a:extLst>
                  <a:ext uri="{0D108BD9-81ED-4DB2-BD59-A6C34878D82A}">
                    <a16:rowId xmlns:a16="http://schemas.microsoft.com/office/drawing/2014/main" val="951795998"/>
                  </a:ext>
                </a:extLst>
              </a:tr>
              <a:tr h="1235556">
                <a:tc>
                  <a:txBody>
                    <a:bodyPr/>
                    <a:lstStyle/>
                    <a:p>
                      <a:r>
                        <a:rPr kumimoji="1" lang="ja-JP" altLang="en-US" sz="2000" dirty="0"/>
                        <a:t>輪郭線：</a:t>
                      </a:r>
                      <a:endParaRPr kumimoji="1" lang="en-US" altLang="ja-JP" sz="2000" dirty="0"/>
                    </a:p>
                    <a:p>
                      <a:r>
                        <a:rPr kumimoji="1" lang="ja-JP" altLang="en-US" sz="2000" dirty="0"/>
                        <a:t>明確な黒線がある</a:t>
                      </a:r>
                      <a:endParaRPr kumimoji="1" lang="en-US" altLang="ja-JP" sz="2000" dirty="0"/>
                    </a:p>
                    <a:p>
                      <a:r>
                        <a:rPr kumimoji="1" lang="en-US" altLang="ja-JP" sz="2000" dirty="0"/>
                        <a:t>1</a:t>
                      </a:r>
                      <a:r>
                        <a:rPr kumimoji="1" lang="ja-JP" altLang="en-US" sz="2000" dirty="0"/>
                        <a:t>本の線で分割している</a:t>
                      </a:r>
                    </a:p>
                  </a:txBody>
                  <a:tcPr/>
                </a:tc>
                <a:tc>
                  <a:txBody>
                    <a:bodyPr/>
                    <a:lstStyle/>
                    <a:p>
                      <a:pPr algn="ctr"/>
                      <a:r>
                        <a:rPr kumimoji="1" lang="ja-JP" altLang="en-US" sz="4800" dirty="0"/>
                        <a:t>○</a:t>
                      </a:r>
                    </a:p>
                  </a:txBody>
                  <a:tcPr anchor="ctr"/>
                </a:tc>
                <a:tc>
                  <a:txBody>
                    <a:bodyPr/>
                    <a:lstStyle/>
                    <a:p>
                      <a:pPr algn="ctr"/>
                      <a:r>
                        <a:rPr kumimoji="1" lang="ja-JP" altLang="en-US" sz="4800" dirty="0"/>
                        <a:t>△</a:t>
                      </a:r>
                    </a:p>
                  </a:txBody>
                  <a:tcPr anchor="ctr"/>
                </a:tc>
                <a:tc>
                  <a:txBody>
                    <a:bodyPr/>
                    <a:lstStyle/>
                    <a:p>
                      <a:pPr algn="ctr"/>
                      <a:r>
                        <a:rPr kumimoji="1" lang="ja-JP" altLang="en-US" sz="4800" dirty="0"/>
                        <a:t>△</a:t>
                      </a:r>
                    </a:p>
                  </a:txBody>
                  <a:tcPr anchor="ctr"/>
                </a:tc>
                <a:extLst>
                  <a:ext uri="{0D108BD9-81ED-4DB2-BD59-A6C34878D82A}">
                    <a16:rowId xmlns:a16="http://schemas.microsoft.com/office/drawing/2014/main" val="2566274766"/>
                  </a:ext>
                </a:extLst>
              </a:tr>
            </a:tbl>
          </a:graphicData>
        </a:graphic>
      </p:graphicFrame>
      <p:grpSp>
        <p:nvGrpSpPr>
          <p:cNvPr id="6" name="グループ化 5">
            <a:extLst>
              <a:ext uri="{FF2B5EF4-FFF2-40B4-BE49-F238E27FC236}">
                <a16:creationId xmlns:a16="http://schemas.microsoft.com/office/drawing/2014/main" id="{6821DE8F-A3DE-B9B6-37E1-6F075B39E282}"/>
              </a:ext>
            </a:extLst>
          </p:cNvPr>
          <p:cNvGrpSpPr/>
          <p:nvPr/>
        </p:nvGrpSpPr>
        <p:grpSpPr>
          <a:xfrm>
            <a:off x="3313966" y="11613"/>
            <a:ext cx="2544303" cy="2544303"/>
            <a:chOff x="9366441" y="44745"/>
            <a:chExt cx="2544303" cy="2544303"/>
          </a:xfrm>
        </p:grpSpPr>
        <p:pic>
          <p:nvPicPr>
            <p:cNvPr id="18" name="図 17">
              <a:extLst>
                <a:ext uri="{FF2B5EF4-FFF2-40B4-BE49-F238E27FC236}">
                  <a16:creationId xmlns:a16="http://schemas.microsoft.com/office/drawing/2014/main" id="{2805FB3B-363B-7916-4069-208801FD2A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6441" y="44745"/>
              <a:ext cx="2544303" cy="2544303"/>
            </a:xfrm>
            <a:prstGeom prst="rect">
              <a:avLst/>
            </a:prstGeom>
          </p:spPr>
        </p:pic>
        <p:pic>
          <p:nvPicPr>
            <p:cNvPr id="8" name="図 7">
              <a:extLst>
                <a:ext uri="{FF2B5EF4-FFF2-40B4-BE49-F238E27FC236}">
                  <a16:creationId xmlns:a16="http://schemas.microsoft.com/office/drawing/2014/main" id="{7D1A530D-6F73-380A-53F4-422BC37A51C2}"/>
                </a:ext>
              </a:extLst>
            </p:cNvPr>
            <p:cNvPicPr>
              <a:picLocks noChangeAspect="1"/>
            </p:cNvPicPr>
            <p:nvPr/>
          </p:nvPicPr>
          <p:blipFill>
            <a:blip r:embed="rId4">
              <a:extLst>
                <a:ext uri="{28A0092B-C50C-407E-A947-70E740481C1C}">
                  <a14:useLocalDpi xmlns:a14="http://schemas.microsoft.com/office/drawing/2010/main" val="0"/>
                </a:ext>
              </a:extLst>
            </a:blip>
            <a:srcRect l="50363"/>
            <a:stretch>
              <a:fillRect/>
            </a:stretch>
          </p:blipFill>
          <p:spPr>
            <a:xfrm>
              <a:off x="10647827" y="44745"/>
              <a:ext cx="1262917" cy="2544303"/>
            </a:xfrm>
            <a:prstGeom prst="rect">
              <a:avLst/>
            </a:prstGeom>
          </p:spPr>
        </p:pic>
      </p:grpSp>
      <p:grpSp>
        <p:nvGrpSpPr>
          <p:cNvPr id="7" name="グループ化 6">
            <a:extLst>
              <a:ext uri="{FF2B5EF4-FFF2-40B4-BE49-F238E27FC236}">
                <a16:creationId xmlns:a16="http://schemas.microsoft.com/office/drawing/2014/main" id="{28D0C3A7-49B7-A8A8-384E-24FF187B0C8B}"/>
              </a:ext>
            </a:extLst>
          </p:cNvPr>
          <p:cNvGrpSpPr/>
          <p:nvPr/>
        </p:nvGrpSpPr>
        <p:grpSpPr>
          <a:xfrm>
            <a:off x="6359936" y="11613"/>
            <a:ext cx="2544304" cy="2561615"/>
            <a:chOff x="3311550" y="0"/>
            <a:chExt cx="2544304" cy="2561615"/>
          </a:xfrm>
        </p:grpSpPr>
        <p:pic>
          <p:nvPicPr>
            <p:cNvPr id="14" name="図 13">
              <a:extLst>
                <a:ext uri="{FF2B5EF4-FFF2-40B4-BE49-F238E27FC236}">
                  <a16:creationId xmlns:a16="http://schemas.microsoft.com/office/drawing/2014/main" id="{79F24B3B-6393-812D-9249-CA97455982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11550" y="0"/>
              <a:ext cx="2544304" cy="2544304"/>
            </a:xfrm>
            <a:prstGeom prst="rect">
              <a:avLst/>
            </a:prstGeom>
          </p:spPr>
        </p:pic>
        <p:pic>
          <p:nvPicPr>
            <p:cNvPr id="10" name="図 9">
              <a:extLst>
                <a:ext uri="{FF2B5EF4-FFF2-40B4-BE49-F238E27FC236}">
                  <a16:creationId xmlns:a16="http://schemas.microsoft.com/office/drawing/2014/main" id="{0B6F67D7-9781-B507-4ACD-812D18C93AA0}"/>
                </a:ext>
              </a:extLst>
            </p:cNvPr>
            <p:cNvPicPr>
              <a:picLocks noChangeAspect="1"/>
            </p:cNvPicPr>
            <p:nvPr/>
          </p:nvPicPr>
          <p:blipFill>
            <a:blip r:embed="rId6">
              <a:extLst>
                <a:ext uri="{28A0092B-C50C-407E-A947-70E740481C1C}">
                  <a14:useLocalDpi xmlns:a14="http://schemas.microsoft.com/office/drawing/2010/main" val="0"/>
                </a:ext>
              </a:extLst>
            </a:blip>
            <a:srcRect l="50139"/>
            <a:stretch>
              <a:fillRect/>
            </a:stretch>
          </p:blipFill>
          <p:spPr>
            <a:xfrm>
              <a:off x="4587240" y="17311"/>
              <a:ext cx="1268614" cy="2544304"/>
            </a:xfrm>
            <a:prstGeom prst="rect">
              <a:avLst/>
            </a:prstGeom>
          </p:spPr>
        </p:pic>
      </p:grpSp>
      <p:grpSp>
        <p:nvGrpSpPr>
          <p:cNvPr id="9" name="グループ化 8">
            <a:extLst>
              <a:ext uri="{FF2B5EF4-FFF2-40B4-BE49-F238E27FC236}">
                <a16:creationId xmlns:a16="http://schemas.microsoft.com/office/drawing/2014/main" id="{6389EAF2-28A6-977C-0632-1E0724AF6262}"/>
              </a:ext>
            </a:extLst>
          </p:cNvPr>
          <p:cNvGrpSpPr/>
          <p:nvPr/>
        </p:nvGrpSpPr>
        <p:grpSpPr>
          <a:xfrm>
            <a:off x="9350168" y="28924"/>
            <a:ext cx="2552418" cy="2552419"/>
            <a:chOff x="6333732" y="11613"/>
            <a:chExt cx="2552418" cy="2552419"/>
          </a:xfrm>
        </p:grpSpPr>
        <p:pic>
          <p:nvPicPr>
            <p:cNvPr id="16" name="図 15">
              <a:extLst>
                <a:ext uri="{FF2B5EF4-FFF2-40B4-BE49-F238E27FC236}">
                  <a16:creationId xmlns:a16="http://schemas.microsoft.com/office/drawing/2014/main" id="{C203AE8C-A870-6829-34D8-2014229B0C3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33732" y="11614"/>
              <a:ext cx="2552418" cy="2552418"/>
            </a:xfrm>
            <a:prstGeom prst="rect">
              <a:avLst/>
            </a:prstGeom>
          </p:spPr>
        </p:pic>
        <p:pic>
          <p:nvPicPr>
            <p:cNvPr id="12" name="図 11">
              <a:extLst>
                <a:ext uri="{FF2B5EF4-FFF2-40B4-BE49-F238E27FC236}">
                  <a16:creationId xmlns:a16="http://schemas.microsoft.com/office/drawing/2014/main" id="{5DA55572-8EBA-DACC-F348-5373D10250FA}"/>
                </a:ext>
              </a:extLst>
            </p:cNvPr>
            <p:cNvPicPr>
              <a:picLocks noChangeAspect="1"/>
            </p:cNvPicPr>
            <p:nvPr/>
          </p:nvPicPr>
          <p:blipFill>
            <a:blip r:embed="rId8">
              <a:extLst>
                <a:ext uri="{28A0092B-C50C-407E-A947-70E740481C1C}">
                  <a14:useLocalDpi xmlns:a14="http://schemas.microsoft.com/office/drawing/2010/main" val="0"/>
                </a:ext>
              </a:extLst>
            </a:blip>
            <a:srcRect l="50250"/>
            <a:stretch>
              <a:fillRect/>
            </a:stretch>
          </p:blipFill>
          <p:spPr>
            <a:xfrm>
              <a:off x="7617533" y="11613"/>
              <a:ext cx="1268615" cy="2550002"/>
            </a:xfrm>
            <a:prstGeom prst="rect">
              <a:avLst/>
            </a:prstGeom>
          </p:spPr>
        </p:pic>
      </p:grpSp>
      <p:sp>
        <p:nvSpPr>
          <p:cNvPr id="5" name="テキスト ボックス 4">
            <a:extLst>
              <a:ext uri="{FF2B5EF4-FFF2-40B4-BE49-F238E27FC236}">
                <a16:creationId xmlns:a16="http://schemas.microsoft.com/office/drawing/2014/main" id="{B922BBFF-DB77-05E4-5237-3FF6945627CF}"/>
              </a:ext>
            </a:extLst>
          </p:cNvPr>
          <p:cNvSpPr txBox="1"/>
          <p:nvPr/>
        </p:nvSpPr>
        <p:spPr>
          <a:xfrm>
            <a:off x="7309020" y="5092708"/>
            <a:ext cx="4442256" cy="1200329"/>
          </a:xfrm>
          <a:prstGeom prst="rect">
            <a:avLst/>
          </a:prstGeom>
          <a:noFill/>
        </p:spPr>
        <p:txBody>
          <a:bodyPr wrap="square" rtlCol="0">
            <a:spAutoFit/>
          </a:bodyPr>
          <a:lstStyle/>
          <a:p>
            <a:r>
              <a:rPr kumimoji="1" lang="en-US" altLang="ja-JP" sz="2400" dirty="0"/>
              <a:t>100</a:t>
            </a:r>
            <a:r>
              <a:rPr kumimoji="1" lang="ja-JP" altLang="en-US" sz="2400" dirty="0"/>
              <a:t>枚あたり</a:t>
            </a:r>
            <a:endParaRPr kumimoji="1" lang="en-US" altLang="ja-JP" sz="2400" dirty="0"/>
          </a:p>
          <a:p>
            <a:r>
              <a:rPr kumimoji="1" lang="ja-JP" altLang="en-US" sz="2400" dirty="0"/>
              <a:t>領域化　○：△：</a:t>
            </a:r>
            <a:r>
              <a:rPr kumimoji="1" lang="en-US" altLang="ja-JP" sz="2400" dirty="0"/>
              <a:t>×</a:t>
            </a:r>
            <a:r>
              <a:rPr kumimoji="1" lang="ja-JP" altLang="en-US" sz="2400" dirty="0"/>
              <a:t>＝ </a:t>
            </a:r>
            <a:r>
              <a:rPr kumimoji="1" lang="en-US" altLang="ja-JP" sz="2400" dirty="0"/>
              <a:t>42</a:t>
            </a:r>
            <a:r>
              <a:rPr kumimoji="1" lang="ja-JP" altLang="en-US" sz="2400" dirty="0"/>
              <a:t>：</a:t>
            </a:r>
            <a:r>
              <a:rPr kumimoji="1" lang="en-US" altLang="ja-JP" sz="2400" dirty="0"/>
              <a:t>40</a:t>
            </a:r>
            <a:r>
              <a:rPr kumimoji="1" lang="ja-JP" altLang="en-US" sz="2400" dirty="0"/>
              <a:t>：</a:t>
            </a:r>
            <a:r>
              <a:rPr kumimoji="1" lang="en-US" altLang="ja-JP" sz="2400" dirty="0"/>
              <a:t>18</a:t>
            </a:r>
          </a:p>
          <a:p>
            <a:r>
              <a:rPr kumimoji="1" lang="ja-JP" altLang="en-US" sz="2400" dirty="0"/>
              <a:t>輪郭線　○：△：</a:t>
            </a:r>
            <a:r>
              <a:rPr kumimoji="1" lang="en-US" altLang="ja-JP" sz="2400" dirty="0"/>
              <a:t>×</a:t>
            </a:r>
            <a:r>
              <a:rPr kumimoji="1" lang="ja-JP" altLang="en-US" sz="2400" dirty="0"/>
              <a:t>＝ </a:t>
            </a:r>
            <a:r>
              <a:rPr kumimoji="1" lang="en-US" altLang="ja-JP" sz="2400" dirty="0"/>
              <a:t>35</a:t>
            </a:r>
            <a:r>
              <a:rPr kumimoji="1" lang="ja-JP" altLang="en-US" sz="2400" dirty="0"/>
              <a:t>：</a:t>
            </a:r>
            <a:r>
              <a:rPr kumimoji="1" lang="en-US" altLang="ja-JP" sz="2400" dirty="0"/>
              <a:t>56</a:t>
            </a:r>
            <a:r>
              <a:rPr kumimoji="1" lang="ja-JP" altLang="en-US" sz="2400" dirty="0"/>
              <a:t>：</a:t>
            </a:r>
            <a:r>
              <a:rPr kumimoji="1" lang="en-US" altLang="ja-JP" sz="2400" dirty="0"/>
              <a:t>9</a:t>
            </a:r>
            <a:endParaRPr kumimoji="1" lang="ja-JP" altLang="en-US" sz="2400" dirty="0"/>
          </a:p>
        </p:txBody>
      </p:sp>
      <p:sp>
        <p:nvSpPr>
          <p:cNvPr id="17" name="テキスト ボックス 16">
            <a:extLst>
              <a:ext uri="{FF2B5EF4-FFF2-40B4-BE49-F238E27FC236}">
                <a16:creationId xmlns:a16="http://schemas.microsoft.com/office/drawing/2014/main" id="{DD4B03FE-4691-6A01-566F-818B56D2A912}"/>
              </a:ext>
            </a:extLst>
          </p:cNvPr>
          <p:cNvSpPr txBox="1"/>
          <p:nvPr/>
        </p:nvSpPr>
        <p:spPr>
          <a:xfrm>
            <a:off x="0" y="5045862"/>
            <a:ext cx="7309020" cy="1200329"/>
          </a:xfrm>
          <a:prstGeom prst="rect">
            <a:avLst/>
          </a:prstGeom>
          <a:noFill/>
        </p:spPr>
        <p:txBody>
          <a:bodyPr wrap="square">
            <a:spAutoFit/>
          </a:bodyPr>
          <a:lstStyle/>
          <a:p>
            <a:r>
              <a:rPr lang="ja-JP" altLang="en-US" sz="2400" dirty="0"/>
              <a:t>〇：うまくいっている</a:t>
            </a:r>
          </a:p>
          <a:p>
            <a:r>
              <a:rPr lang="ja-JP" altLang="en-US" sz="2400" dirty="0"/>
              <a:t>△：そのまま使うには微妙な結果</a:t>
            </a:r>
            <a:endParaRPr lang="en-US" altLang="ja-JP" sz="2400" dirty="0"/>
          </a:p>
          <a:p>
            <a:r>
              <a:rPr lang="en-US" altLang="ja-JP" sz="2400" dirty="0"/>
              <a:t>×</a:t>
            </a:r>
            <a:r>
              <a:rPr lang="ja-JP" altLang="en-US" sz="2400" dirty="0"/>
              <a:t>：考えていた出力とは離れてしまったもの</a:t>
            </a:r>
          </a:p>
        </p:txBody>
      </p:sp>
      <p:pic>
        <p:nvPicPr>
          <p:cNvPr id="22" name="図 21">
            <a:extLst>
              <a:ext uri="{FF2B5EF4-FFF2-40B4-BE49-F238E27FC236}">
                <a16:creationId xmlns:a16="http://schemas.microsoft.com/office/drawing/2014/main" id="{90049B8D-6D53-4189-1715-E06C4DFBADCD}"/>
              </a:ext>
            </a:extLst>
          </p:cNvPr>
          <p:cNvPicPr>
            <a:picLocks noChangeAspect="1"/>
          </p:cNvPicPr>
          <p:nvPr/>
        </p:nvPicPr>
        <p:blipFill>
          <a:blip r:embed="rId9">
            <a:extLst>
              <a:ext uri="{28A0092B-C50C-407E-A947-70E740481C1C}">
                <a14:useLocalDpi xmlns:a14="http://schemas.microsoft.com/office/drawing/2010/main" val="0"/>
              </a:ext>
            </a:extLst>
          </a:blip>
          <a:srcRect l="49999" t="17767" r="31585" b="68288"/>
          <a:stretch>
            <a:fillRect/>
          </a:stretch>
        </p:blipFill>
        <p:spPr>
          <a:xfrm>
            <a:off x="5241380" y="255929"/>
            <a:ext cx="4800969" cy="3635588"/>
          </a:xfrm>
          <a:prstGeom prst="rect">
            <a:avLst/>
          </a:prstGeom>
        </p:spPr>
      </p:pic>
      <p:sp>
        <p:nvSpPr>
          <p:cNvPr id="23" name="テキスト ボックス 22">
            <a:extLst>
              <a:ext uri="{FF2B5EF4-FFF2-40B4-BE49-F238E27FC236}">
                <a16:creationId xmlns:a16="http://schemas.microsoft.com/office/drawing/2014/main" id="{DD5EE4F9-30F7-8170-6A6E-4DC3CE53D131}"/>
              </a:ext>
            </a:extLst>
          </p:cNvPr>
          <p:cNvSpPr txBox="1"/>
          <p:nvPr/>
        </p:nvSpPr>
        <p:spPr>
          <a:xfrm>
            <a:off x="0" y="3845350"/>
            <a:ext cx="2719014" cy="129266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50" charset="-128"/>
                <a:cs typeface="+mn-cs"/>
              </a:rPr>
              <a:t>輪郭線：</a:t>
            </a:r>
            <a:endParaRPr kumimoji="1" lang="en-US" altLang="ja-JP" sz="20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50" charset="-128"/>
                <a:cs typeface="+mn-cs"/>
              </a:rPr>
              <a:t>明確な黒線がある</a:t>
            </a:r>
            <a:endParaRPr kumimoji="1" lang="en-US" altLang="ja-JP" sz="20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50" charset="-128"/>
                <a:cs typeface="+mn-cs"/>
              </a:rPr>
              <a:t>1</a:t>
            </a:r>
            <a:r>
              <a:rPr kumimoji="1" lang="ja-JP" altLang="en-US" sz="20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50" charset="-128"/>
                <a:cs typeface="+mn-cs"/>
              </a:rPr>
              <a:t>本の線で分割している</a:t>
            </a:r>
          </a:p>
          <a:p>
            <a:endParaRPr kumimoji="1" lang="ja-JP" altLang="en-US" dirty="0">
              <a:solidFill>
                <a:srgbClr val="FF0000"/>
              </a:solidFill>
            </a:endParaRPr>
          </a:p>
        </p:txBody>
      </p:sp>
      <p:sp>
        <p:nvSpPr>
          <p:cNvPr id="25" name="テキスト ボックス 24">
            <a:extLst>
              <a:ext uri="{FF2B5EF4-FFF2-40B4-BE49-F238E27FC236}">
                <a16:creationId xmlns:a16="http://schemas.microsoft.com/office/drawing/2014/main" id="{5B256D4C-C292-0951-D27A-2FD64F611554}"/>
              </a:ext>
            </a:extLst>
          </p:cNvPr>
          <p:cNvSpPr txBox="1"/>
          <p:nvPr/>
        </p:nvSpPr>
        <p:spPr>
          <a:xfrm>
            <a:off x="7264312" y="4053191"/>
            <a:ext cx="735551" cy="830997"/>
          </a:xfrm>
          <a:prstGeom prst="rect">
            <a:avLst/>
          </a:prstGeom>
          <a:noFill/>
        </p:spPr>
        <p:txBody>
          <a:bodyPr wrap="square">
            <a:spAutoFit/>
          </a:bodyPr>
          <a:lstStyle/>
          <a:p>
            <a:pPr algn="ctr"/>
            <a:r>
              <a:rPr kumimoji="1" lang="ja-JP" altLang="en-US" sz="4800" dirty="0">
                <a:solidFill>
                  <a:srgbClr val="FF0000"/>
                </a:solidFill>
              </a:rPr>
              <a:t>△</a:t>
            </a:r>
          </a:p>
        </p:txBody>
      </p:sp>
    </p:spTree>
    <p:extLst>
      <p:ext uri="{BB962C8B-B14F-4D97-AF65-F5344CB8AC3E}">
        <p14:creationId xmlns:p14="http://schemas.microsoft.com/office/powerpoint/2010/main" val="396391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25"/>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22"/>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P spid="25" grpId="0"/>
      <p:bldP spid="25"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F8839-F324-5CFF-01D9-69BC9586B1D3}"/>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F2473B6-72E4-CE0B-E232-1763F11683FC}"/>
              </a:ext>
            </a:extLst>
          </p:cNvPr>
          <p:cNvSpPr txBox="1"/>
          <p:nvPr/>
        </p:nvSpPr>
        <p:spPr>
          <a:xfrm>
            <a:off x="0" y="0"/>
            <a:ext cx="1808508" cy="830997"/>
          </a:xfrm>
          <a:prstGeom prst="rect">
            <a:avLst/>
          </a:prstGeom>
          <a:noFill/>
        </p:spPr>
        <p:txBody>
          <a:bodyPr wrap="none" rtlCol="0">
            <a:spAutoFit/>
          </a:bodyPr>
          <a:lstStyle/>
          <a:p>
            <a:r>
              <a:rPr kumimoji="1" lang="ja-JP" altLang="en-US" sz="4800" dirty="0"/>
              <a:t>まとめ</a:t>
            </a:r>
          </a:p>
        </p:txBody>
      </p:sp>
      <p:sp>
        <p:nvSpPr>
          <p:cNvPr id="3" name="スライド番号プレースホルダー 2">
            <a:extLst>
              <a:ext uri="{FF2B5EF4-FFF2-40B4-BE49-F238E27FC236}">
                <a16:creationId xmlns:a16="http://schemas.microsoft.com/office/drawing/2014/main" id="{C422F547-1936-0B70-4A83-B940058D632D}"/>
              </a:ext>
            </a:extLst>
          </p:cNvPr>
          <p:cNvSpPr>
            <a:spLocks noGrp="1"/>
          </p:cNvSpPr>
          <p:nvPr>
            <p:ph type="sldNum" sz="quarter" idx="12"/>
          </p:nvPr>
        </p:nvSpPr>
        <p:spPr/>
        <p:txBody>
          <a:bodyPr/>
          <a:lstStyle/>
          <a:p>
            <a:fld id="{29A669C4-3E33-40D5-9129-B2BA8A5F5F4A}" type="slidenum">
              <a:rPr kumimoji="1" lang="ja-JP" altLang="en-US" smtClean="0"/>
              <a:t>9</a:t>
            </a:fld>
            <a:endParaRPr kumimoji="1" lang="ja-JP" altLang="en-US"/>
          </a:p>
        </p:txBody>
      </p:sp>
      <p:pic>
        <p:nvPicPr>
          <p:cNvPr id="15" name="図 14">
            <a:extLst>
              <a:ext uri="{FF2B5EF4-FFF2-40B4-BE49-F238E27FC236}">
                <a16:creationId xmlns:a16="http://schemas.microsoft.com/office/drawing/2014/main" id="{6C3B73D3-3481-77CB-D04A-9315484F5B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9619" y="1514466"/>
            <a:ext cx="2793544" cy="2793544"/>
          </a:xfrm>
          <a:prstGeom prst="rect">
            <a:avLst/>
          </a:prstGeom>
        </p:spPr>
      </p:pic>
      <p:pic>
        <p:nvPicPr>
          <p:cNvPr id="20" name="図 19">
            <a:extLst>
              <a:ext uri="{FF2B5EF4-FFF2-40B4-BE49-F238E27FC236}">
                <a16:creationId xmlns:a16="http://schemas.microsoft.com/office/drawing/2014/main" id="{F11CB8D6-0599-1A5F-0C64-15F61FE406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099" y="1514466"/>
            <a:ext cx="2793545" cy="2793545"/>
          </a:xfrm>
          <a:prstGeom prst="rect">
            <a:avLst/>
          </a:prstGeom>
        </p:spPr>
      </p:pic>
      <p:sp>
        <p:nvSpPr>
          <p:cNvPr id="9" name="テキスト ボックス 8">
            <a:extLst>
              <a:ext uri="{FF2B5EF4-FFF2-40B4-BE49-F238E27FC236}">
                <a16:creationId xmlns:a16="http://schemas.microsoft.com/office/drawing/2014/main" id="{FFDE3348-206F-C151-998C-FAA6C1650A62}"/>
              </a:ext>
            </a:extLst>
          </p:cNvPr>
          <p:cNvSpPr txBox="1"/>
          <p:nvPr/>
        </p:nvSpPr>
        <p:spPr>
          <a:xfrm>
            <a:off x="0" y="714244"/>
            <a:ext cx="6235064" cy="830997"/>
          </a:xfrm>
          <a:prstGeom prst="rect">
            <a:avLst/>
          </a:prstGeom>
          <a:noFill/>
        </p:spPr>
        <p:txBody>
          <a:bodyPr wrap="square">
            <a:spAutoFit/>
          </a:bodyPr>
          <a:lstStyle/>
          <a:p>
            <a:r>
              <a:rPr kumimoji="1" lang="en-US" altLang="ja-JP" sz="2400" dirty="0">
                <a:solidFill>
                  <a:schemeClr val="tx1"/>
                </a:solidFill>
              </a:rPr>
              <a:t>&lt;</a:t>
            </a:r>
            <a:r>
              <a:rPr kumimoji="1" lang="ja-JP" altLang="en-US" sz="2400" dirty="0">
                <a:solidFill>
                  <a:schemeClr val="tx1"/>
                </a:solidFill>
              </a:rPr>
              <a:t>目的</a:t>
            </a:r>
            <a:r>
              <a:rPr kumimoji="1" lang="en-US" altLang="ja-JP" sz="2400" dirty="0">
                <a:solidFill>
                  <a:schemeClr val="tx1"/>
                </a:solidFill>
              </a:rPr>
              <a:t>&gt;</a:t>
            </a:r>
          </a:p>
          <a:p>
            <a:r>
              <a:rPr kumimoji="1" lang="ja-JP" altLang="en-US" sz="2400" dirty="0">
                <a:solidFill>
                  <a:schemeClr val="tx1"/>
                </a:solidFill>
              </a:rPr>
              <a:t>実写画像からセル画調の背景画像を作る</a:t>
            </a:r>
          </a:p>
        </p:txBody>
      </p:sp>
      <p:sp>
        <p:nvSpPr>
          <p:cNvPr id="17" name="矢印: 右 16">
            <a:extLst>
              <a:ext uri="{FF2B5EF4-FFF2-40B4-BE49-F238E27FC236}">
                <a16:creationId xmlns:a16="http://schemas.microsoft.com/office/drawing/2014/main" id="{E6B08108-7554-FB89-6703-61AC94AB95D2}"/>
              </a:ext>
            </a:extLst>
          </p:cNvPr>
          <p:cNvSpPr/>
          <p:nvPr/>
        </p:nvSpPr>
        <p:spPr>
          <a:xfrm>
            <a:off x="3117532" y="2911238"/>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テキスト ボックス 21">
            <a:extLst>
              <a:ext uri="{FF2B5EF4-FFF2-40B4-BE49-F238E27FC236}">
                <a16:creationId xmlns:a16="http://schemas.microsoft.com/office/drawing/2014/main" id="{8BE4FF3D-699B-0009-FB0A-64FF5D7D8FAD}"/>
              </a:ext>
            </a:extLst>
          </p:cNvPr>
          <p:cNvSpPr txBox="1"/>
          <p:nvPr/>
        </p:nvSpPr>
        <p:spPr>
          <a:xfrm>
            <a:off x="2899743" y="2086391"/>
            <a:ext cx="1467398" cy="461665"/>
          </a:xfrm>
          <a:prstGeom prst="rect">
            <a:avLst/>
          </a:prstGeom>
          <a:noFill/>
        </p:spPr>
        <p:txBody>
          <a:bodyPr wrap="square" rtlCol="0">
            <a:spAutoFit/>
          </a:bodyPr>
          <a:lstStyle/>
          <a:p>
            <a:r>
              <a:rPr kumimoji="1" lang="ja-JP" altLang="en-US" sz="2400" dirty="0"/>
              <a:t>領域分割</a:t>
            </a:r>
          </a:p>
        </p:txBody>
      </p:sp>
      <p:sp>
        <p:nvSpPr>
          <p:cNvPr id="24" name="テキスト ボックス 23">
            <a:extLst>
              <a:ext uri="{FF2B5EF4-FFF2-40B4-BE49-F238E27FC236}">
                <a16:creationId xmlns:a16="http://schemas.microsoft.com/office/drawing/2014/main" id="{4B8C42A6-52E5-3D3F-AA05-5674633EA04C}"/>
              </a:ext>
            </a:extLst>
          </p:cNvPr>
          <p:cNvSpPr txBox="1"/>
          <p:nvPr/>
        </p:nvSpPr>
        <p:spPr>
          <a:xfrm>
            <a:off x="3230323" y="2449573"/>
            <a:ext cx="806238" cy="461665"/>
          </a:xfrm>
          <a:prstGeom prst="rect">
            <a:avLst/>
          </a:prstGeom>
          <a:noFill/>
        </p:spPr>
        <p:txBody>
          <a:bodyPr wrap="square" rtlCol="0">
            <a:spAutoFit/>
          </a:bodyPr>
          <a:lstStyle/>
          <a:p>
            <a:r>
              <a:rPr kumimoji="1" lang="ja-JP" altLang="en-US" sz="2400" dirty="0"/>
              <a:t>彩色</a:t>
            </a:r>
          </a:p>
        </p:txBody>
      </p:sp>
      <p:sp>
        <p:nvSpPr>
          <p:cNvPr id="34" name="テキスト ボックス 33">
            <a:extLst>
              <a:ext uri="{FF2B5EF4-FFF2-40B4-BE49-F238E27FC236}">
                <a16:creationId xmlns:a16="http://schemas.microsoft.com/office/drawing/2014/main" id="{F7A2D273-A6F9-CF52-D5CC-A6C976AC3ED2}"/>
              </a:ext>
            </a:extLst>
          </p:cNvPr>
          <p:cNvSpPr txBox="1"/>
          <p:nvPr/>
        </p:nvSpPr>
        <p:spPr>
          <a:xfrm>
            <a:off x="844577" y="4319052"/>
            <a:ext cx="1210588" cy="400110"/>
          </a:xfrm>
          <a:prstGeom prst="rect">
            <a:avLst/>
          </a:prstGeom>
          <a:noFill/>
        </p:spPr>
        <p:txBody>
          <a:bodyPr wrap="none" rtlCol="0">
            <a:spAutoFit/>
          </a:bodyPr>
          <a:lstStyle/>
          <a:p>
            <a:r>
              <a:rPr kumimoji="1" lang="ja-JP" altLang="en-US" sz="2000" dirty="0"/>
              <a:t>入力画像</a:t>
            </a:r>
          </a:p>
        </p:txBody>
      </p:sp>
      <p:sp>
        <p:nvSpPr>
          <p:cNvPr id="38" name="テキスト ボックス 37">
            <a:extLst>
              <a:ext uri="{FF2B5EF4-FFF2-40B4-BE49-F238E27FC236}">
                <a16:creationId xmlns:a16="http://schemas.microsoft.com/office/drawing/2014/main" id="{9E851EF2-3A7E-1FA5-BC96-E3676F1A81E6}"/>
              </a:ext>
            </a:extLst>
          </p:cNvPr>
          <p:cNvSpPr txBox="1"/>
          <p:nvPr/>
        </p:nvSpPr>
        <p:spPr>
          <a:xfrm>
            <a:off x="5271097" y="4411797"/>
            <a:ext cx="1210588" cy="400110"/>
          </a:xfrm>
          <a:prstGeom prst="rect">
            <a:avLst/>
          </a:prstGeom>
          <a:noFill/>
        </p:spPr>
        <p:txBody>
          <a:bodyPr wrap="none" rtlCol="0">
            <a:spAutoFit/>
          </a:bodyPr>
          <a:lstStyle/>
          <a:p>
            <a:r>
              <a:rPr kumimoji="1" lang="ja-JP" altLang="en-US" sz="2000" dirty="0"/>
              <a:t>出力画像</a:t>
            </a:r>
          </a:p>
        </p:txBody>
      </p:sp>
      <p:sp>
        <p:nvSpPr>
          <p:cNvPr id="40" name="四角形: 角を丸くする 39">
            <a:extLst>
              <a:ext uri="{FF2B5EF4-FFF2-40B4-BE49-F238E27FC236}">
                <a16:creationId xmlns:a16="http://schemas.microsoft.com/office/drawing/2014/main" id="{C56FD3B7-4B9B-47BE-3BAE-D47FE49EF93E}"/>
              </a:ext>
            </a:extLst>
          </p:cNvPr>
          <p:cNvSpPr/>
          <p:nvPr/>
        </p:nvSpPr>
        <p:spPr>
          <a:xfrm>
            <a:off x="53100" y="4822949"/>
            <a:ext cx="7220064" cy="1510700"/>
          </a:xfrm>
          <a:prstGeom prst="roundRect">
            <a:avLst>
              <a:gd name="adj" fmla="val 2587"/>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en-US" altLang="ja-JP" sz="2400" dirty="0">
                <a:solidFill>
                  <a:schemeClr val="tx1"/>
                </a:solidFill>
              </a:rPr>
              <a:t>&lt;</a:t>
            </a:r>
            <a:r>
              <a:rPr kumimoji="1" lang="ja-JP" altLang="en-US" sz="2400" dirty="0">
                <a:solidFill>
                  <a:schemeClr val="tx1"/>
                </a:solidFill>
              </a:rPr>
              <a:t>結果</a:t>
            </a:r>
            <a:r>
              <a:rPr kumimoji="1" lang="en-US" altLang="ja-JP" sz="2400" dirty="0">
                <a:solidFill>
                  <a:schemeClr val="tx1"/>
                </a:solidFill>
              </a:rPr>
              <a:t>&gt;</a:t>
            </a:r>
          </a:p>
          <a:p>
            <a:pPr marL="457200" indent="-457200">
              <a:buAutoNum type="arabicPeriod"/>
            </a:pPr>
            <a:r>
              <a:rPr kumimoji="1" lang="ja-JP" altLang="en-US" sz="2400" dirty="0">
                <a:solidFill>
                  <a:schemeClr val="tx1"/>
                </a:solidFill>
                <a:latin typeface="Arial" panose="020B0604020202020204" pitchFamily="34" charset="0"/>
                <a:cs typeface="Arial" panose="020B0604020202020204" pitchFamily="34" charset="0"/>
              </a:rPr>
              <a:t>抽象化は</a:t>
            </a:r>
            <a:r>
              <a:rPr kumimoji="1" lang="en-US" altLang="ja-JP" sz="2400" dirty="0">
                <a:solidFill>
                  <a:schemeClr val="tx1"/>
                </a:solidFill>
                <a:latin typeface="Arial" panose="020B0604020202020204" pitchFamily="34" charset="0"/>
                <a:cs typeface="Arial" panose="020B0604020202020204" pitchFamily="34" charset="0"/>
              </a:rPr>
              <a:t>SAM2</a:t>
            </a:r>
            <a:r>
              <a:rPr kumimoji="1" lang="ja-JP" altLang="en-US" sz="2400" dirty="0">
                <a:solidFill>
                  <a:schemeClr val="tx1"/>
                </a:solidFill>
                <a:latin typeface="Arial" panose="020B0604020202020204" pitchFamily="34" charset="0"/>
                <a:cs typeface="Arial" panose="020B0604020202020204" pitchFamily="34" charset="0"/>
              </a:rPr>
              <a:t>に依存するがある程度</a:t>
            </a:r>
            <a:br>
              <a:rPr kumimoji="1" lang="en-US" altLang="ja-JP" sz="2400" dirty="0">
                <a:solidFill>
                  <a:schemeClr val="tx1"/>
                </a:solidFill>
                <a:latin typeface="Arial" panose="020B0604020202020204" pitchFamily="34" charset="0"/>
                <a:cs typeface="Arial" panose="020B0604020202020204" pitchFamily="34" charset="0"/>
              </a:rPr>
            </a:br>
            <a:r>
              <a:rPr kumimoji="1" lang="ja-JP" altLang="en-US" sz="2400" dirty="0">
                <a:solidFill>
                  <a:schemeClr val="tx1"/>
                </a:solidFill>
                <a:latin typeface="Arial" panose="020B0604020202020204" pitchFamily="34" charset="0"/>
                <a:cs typeface="Arial" panose="020B0604020202020204" pitchFamily="34" charset="0"/>
              </a:rPr>
              <a:t>正確に行える</a:t>
            </a:r>
            <a:endParaRPr kumimoji="1" lang="en-US" altLang="ja-JP" sz="2400" dirty="0">
              <a:solidFill>
                <a:schemeClr val="tx1"/>
              </a:solidFill>
              <a:latin typeface="Arial" panose="020B0604020202020204" pitchFamily="34" charset="0"/>
              <a:cs typeface="Arial" panose="020B0604020202020204" pitchFamily="34" charset="0"/>
            </a:endParaRPr>
          </a:p>
          <a:p>
            <a:pPr marL="457200" indent="-457200">
              <a:buAutoNum type="arabicPeriod"/>
            </a:pPr>
            <a:r>
              <a:rPr kumimoji="1" lang="ja-JP" altLang="en-US" sz="2400" dirty="0">
                <a:solidFill>
                  <a:schemeClr val="tx1"/>
                </a:solidFill>
                <a:latin typeface="Arial" panose="020B0604020202020204" pitchFamily="34" charset="0"/>
                <a:cs typeface="Arial" panose="020B0604020202020204" pitchFamily="34" charset="0"/>
              </a:rPr>
              <a:t>ベタ塗と境界線はキレイに行える</a:t>
            </a:r>
            <a:endParaRPr kumimoji="1" lang="en-US" altLang="ja-JP" sz="2400" dirty="0">
              <a:solidFill>
                <a:schemeClr val="tx1"/>
              </a:solidFill>
              <a:latin typeface="Arial" panose="020B0604020202020204" pitchFamily="34" charset="0"/>
              <a:cs typeface="Arial" panose="020B0604020202020204" pitchFamily="34" charset="0"/>
            </a:endParaRPr>
          </a:p>
        </p:txBody>
      </p:sp>
      <p:grpSp>
        <p:nvGrpSpPr>
          <p:cNvPr id="28" name="グループ化 27">
            <a:extLst>
              <a:ext uri="{FF2B5EF4-FFF2-40B4-BE49-F238E27FC236}">
                <a16:creationId xmlns:a16="http://schemas.microsoft.com/office/drawing/2014/main" id="{67903484-A658-8A76-05FC-19762A0F835F}"/>
              </a:ext>
            </a:extLst>
          </p:cNvPr>
          <p:cNvGrpSpPr/>
          <p:nvPr/>
        </p:nvGrpSpPr>
        <p:grpSpPr>
          <a:xfrm>
            <a:off x="10007009" y="710175"/>
            <a:ext cx="1891343" cy="5665899"/>
            <a:chOff x="10282323" y="1508231"/>
            <a:chExt cx="1708198" cy="5117252"/>
          </a:xfrm>
        </p:grpSpPr>
        <p:pic>
          <p:nvPicPr>
            <p:cNvPr id="6" name="図 5">
              <a:extLst>
                <a:ext uri="{FF2B5EF4-FFF2-40B4-BE49-F238E27FC236}">
                  <a16:creationId xmlns:a16="http://schemas.microsoft.com/office/drawing/2014/main" id="{3553F796-3E63-8E7B-6C6E-E8B5050E04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82323" y="1508231"/>
              <a:ext cx="1704526" cy="1704526"/>
            </a:xfrm>
            <a:prstGeom prst="rect">
              <a:avLst/>
            </a:prstGeom>
          </p:spPr>
        </p:pic>
        <p:pic>
          <p:nvPicPr>
            <p:cNvPr id="11" name="図 10">
              <a:extLst>
                <a:ext uri="{FF2B5EF4-FFF2-40B4-BE49-F238E27FC236}">
                  <a16:creationId xmlns:a16="http://schemas.microsoft.com/office/drawing/2014/main" id="{5D545D95-3F02-8608-5DDE-DA44C800D3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82323" y="3212758"/>
              <a:ext cx="1704526" cy="1704526"/>
            </a:xfrm>
            <a:prstGeom prst="rect">
              <a:avLst/>
            </a:prstGeom>
          </p:spPr>
        </p:pic>
        <p:pic>
          <p:nvPicPr>
            <p:cNvPr id="14" name="図 13">
              <a:extLst>
                <a:ext uri="{FF2B5EF4-FFF2-40B4-BE49-F238E27FC236}">
                  <a16:creationId xmlns:a16="http://schemas.microsoft.com/office/drawing/2014/main" id="{1B819D09-FB8B-D240-0BAC-C453AC20743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82323" y="4917285"/>
              <a:ext cx="1708198" cy="1708198"/>
            </a:xfrm>
            <a:prstGeom prst="rect">
              <a:avLst/>
            </a:prstGeom>
          </p:spPr>
        </p:pic>
      </p:grpSp>
      <p:grpSp>
        <p:nvGrpSpPr>
          <p:cNvPr id="27" name="グループ化 26">
            <a:extLst>
              <a:ext uri="{FF2B5EF4-FFF2-40B4-BE49-F238E27FC236}">
                <a16:creationId xmlns:a16="http://schemas.microsoft.com/office/drawing/2014/main" id="{C9EAE6AB-50FE-7BB8-589E-3474EBB2686D}"/>
              </a:ext>
            </a:extLst>
          </p:cNvPr>
          <p:cNvGrpSpPr/>
          <p:nvPr/>
        </p:nvGrpSpPr>
        <p:grpSpPr>
          <a:xfrm>
            <a:off x="7796799" y="714244"/>
            <a:ext cx="1895409" cy="5661831"/>
            <a:chOff x="8570452" y="1508231"/>
            <a:chExt cx="1711871" cy="5113581"/>
          </a:xfrm>
        </p:grpSpPr>
        <p:pic>
          <p:nvPicPr>
            <p:cNvPr id="18" name="図 17">
              <a:extLst>
                <a:ext uri="{FF2B5EF4-FFF2-40B4-BE49-F238E27FC236}">
                  <a16:creationId xmlns:a16="http://schemas.microsoft.com/office/drawing/2014/main" id="{05CFAEF1-A9AB-7848-D2C4-29CA1F31C8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588991" y="3227625"/>
              <a:ext cx="1689660" cy="1689660"/>
            </a:xfrm>
            <a:prstGeom prst="rect">
              <a:avLst/>
            </a:prstGeom>
          </p:spPr>
        </p:pic>
        <p:pic>
          <p:nvPicPr>
            <p:cNvPr id="23" name="図 22">
              <a:extLst>
                <a:ext uri="{FF2B5EF4-FFF2-40B4-BE49-F238E27FC236}">
                  <a16:creationId xmlns:a16="http://schemas.microsoft.com/office/drawing/2014/main" id="{175F1CB1-55A1-1372-B01F-4D512E0B237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570452" y="1508231"/>
              <a:ext cx="1708199" cy="1708199"/>
            </a:xfrm>
            <a:prstGeom prst="rect">
              <a:avLst/>
            </a:prstGeom>
          </p:spPr>
        </p:pic>
        <p:pic>
          <p:nvPicPr>
            <p:cNvPr id="26" name="図 25">
              <a:extLst>
                <a:ext uri="{FF2B5EF4-FFF2-40B4-BE49-F238E27FC236}">
                  <a16:creationId xmlns:a16="http://schemas.microsoft.com/office/drawing/2014/main" id="{8A968940-E6AF-E8E9-6654-F8F11157AD3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574124" y="4913613"/>
              <a:ext cx="1708199" cy="1708199"/>
            </a:xfrm>
            <a:prstGeom prst="rect">
              <a:avLst/>
            </a:prstGeom>
          </p:spPr>
        </p:pic>
      </p:grpSp>
      <p:sp>
        <p:nvSpPr>
          <p:cNvPr id="29" name="テキスト ボックス 28">
            <a:extLst>
              <a:ext uri="{FF2B5EF4-FFF2-40B4-BE49-F238E27FC236}">
                <a16:creationId xmlns:a16="http://schemas.microsoft.com/office/drawing/2014/main" id="{8F72B847-0B7C-24B4-F5A6-92F433B67BF2}"/>
              </a:ext>
            </a:extLst>
          </p:cNvPr>
          <p:cNvSpPr txBox="1"/>
          <p:nvPr/>
        </p:nvSpPr>
        <p:spPr>
          <a:xfrm>
            <a:off x="8198736" y="246381"/>
            <a:ext cx="1107996" cy="461665"/>
          </a:xfrm>
          <a:prstGeom prst="rect">
            <a:avLst/>
          </a:prstGeom>
          <a:noFill/>
        </p:spPr>
        <p:txBody>
          <a:bodyPr wrap="none" rtlCol="0">
            <a:spAutoFit/>
          </a:bodyPr>
          <a:lstStyle/>
          <a:p>
            <a:r>
              <a:rPr kumimoji="1" lang="ja-JP" altLang="en-US" sz="2400" dirty="0"/>
              <a:t>入力例</a:t>
            </a:r>
          </a:p>
        </p:txBody>
      </p:sp>
      <p:sp>
        <p:nvSpPr>
          <p:cNvPr id="31" name="テキスト ボックス 30">
            <a:extLst>
              <a:ext uri="{FF2B5EF4-FFF2-40B4-BE49-F238E27FC236}">
                <a16:creationId xmlns:a16="http://schemas.microsoft.com/office/drawing/2014/main" id="{CE55B4B8-DE77-D32F-CC76-13EDE96E8FB9}"/>
              </a:ext>
            </a:extLst>
          </p:cNvPr>
          <p:cNvSpPr txBox="1"/>
          <p:nvPr/>
        </p:nvSpPr>
        <p:spPr>
          <a:xfrm>
            <a:off x="10396649" y="204621"/>
            <a:ext cx="1107996" cy="461665"/>
          </a:xfrm>
          <a:prstGeom prst="rect">
            <a:avLst/>
          </a:prstGeom>
          <a:noFill/>
        </p:spPr>
        <p:txBody>
          <a:bodyPr wrap="none" rtlCol="0">
            <a:spAutoFit/>
          </a:bodyPr>
          <a:lstStyle/>
          <a:p>
            <a:r>
              <a:rPr kumimoji="1" lang="ja-JP" altLang="en-US" sz="2400" dirty="0"/>
              <a:t>出力例</a:t>
            </a:r>
          </a:p>
        </p:txBody>
      </p:sp>
    </p:spTree>
    <p:extLst>
      <p:ext uri="{BB962C8B-B14F-4D97-AF65-F5344CB8AC3E}">
        <p14:creationId xmlns:p14="http://schemas.microsoft.com/office/powerpoint/2010/main" val="2770117263"/>
      </p:ext>
    </p:extLst>
  </p:cSld>
  <p:clrMapOvr>
    <a:masterClrMapping/>
  </p:clrMapOvr>
</p:sld>
</file>

<file path=ppt/theme/theme1.xml><?xml version="1.0" encoding="utf-8"?>
<a:theme xmlns:a="http://schemas.openxmlformats.org/drawingml/2006/main" name="レトロスペクト">
  <a:themeElements>
    <a:clrScheme name="レトロスペクト">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レトロスペク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レトロスペクト">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1181</TotalTime>
  <Words>1186</Words>
  <Application>Microsoft Office PowerPoint</Application>
  <PresentationFormat>ワイド画面</PresentationFormat>
  <Paragraphs>194</Paragraphs>
  <Slides>9</Slides>
  <Notes>9</Notes>
  <HiddenSlides>0</HiddenSlides>
  <MMClips>2</MMClips>
  <ScaleCrop>false</ScaleCrop>
  <HeadingPairs>
    <vt:vector size="4" baseType="variant">
      <vt:variant>
        <vt:lpstr>テーマ</vt:lpstr>
      </vt:variant>
      <vt:variant>
        <vt:i4>1</vt:i4>
      </vt:variant>
      <vt:variant>
        <vt:lpstr>スライド タイトル</vt:lpstr>
      </vt:variant>
      <vt:variant>
        <vt:i4>9</vt:i4>
      </vt:variant>
    </vt:vector>
  </HeadingPairs>
  <TitlesOfParts>
    <vt:vector size="10" baseType="lpstr">
      <vt:lpstr>レトロスペクト</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atsuhiro yoshii</dc:creator>
  <cp:lastModifiedBy>atsuhiro yoshii</cp:lastModifiedBy>
  <cp:revision>19</cp:revision>
  <dcterms:created xsi:type="dcterms:W3CDTF">2026-07-13T04:06:21Z</dcterms:created>
  <dcterms:modified xsi:type="dcterms:W3CDTF">2026-10-01T06:56:56Z</dcterms:modified>
</cp:coreProperties>
</file>